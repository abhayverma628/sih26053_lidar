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s://github.com/AbhayVerma628/SIH26053_Lidar" TargetMode="External"/><Relationship Id="rId4" Type="http://schemas.openxmlformats.org/officeDocument/2006/relationships/hyperlink" Target="https://abhayverma628.github.io/SIH26053_Lida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2760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06FC0"/>
                </a:solidFill>
                <a:latin typeface="Arial"/>
              </a:defRPr>
            </a:pPr>
            <a:r>
              <a:t>Adaptive Foveated 2.5D Semantic Mapping for Autonomous Navigation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91640"/>
            <a:ext cx="6858000" cy="363689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• Problem Statement ID -</a:t>
            </a:r>
            <a:r>
              <a:rPr b="0" dirty="0">
                <a:solidFill>
                  <a:srgbClr val="232323"/>
                </a:solidFill>
                <a:latin typeface="Arial"/>
              </a:rPr>
              <a:t> 26053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• Problem Statement Title -</a:t>
            </a:r>
            <a:r>
              <a:rPr b="0" dirty="0">
                <a:solidFill>
                  <a:srgbClr val="232323"/>
                </a:solidFill>
                <a:latin typeface="Arial"/>
              </a:rPr>
              <a:t> Adaptive Foveated 2.5D Semantic Mapping from LiDAR Point Clouds for Autonomous Navigation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• Theme -</a:t>
            </a:r>
            <a:r>
              <a:rPr b="0" dirty="0">
                <a:solidFill>
                  <a:srgbClr val="232323"/>
                </a:solidFill>
                <a:latin typeface="Arial"/>
              </a:rPr>
              <a:t> Smart Vehicles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• PS Category -</a:t>
            </a:r>
            <a:r>
              <a:rPr b="0" dirty="0">
                <a:solidFill>
                  <a:srgbClr val="232323"/>
                </a:solidFill>
                <a:latin typeface="Arial"/>
              </a:rPr>
              <a:t> Software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• Team ID -</a:t>
            </a:r>
            <a:r>
              <a:rPr b="0" dirty="0">
                <a:solidFill>
                  <a:srgbClr val="232323"/>
                </a:solidFill>
                <a:latin typeface="Arial"/>
              </a:rPr>
              <a:t> 137735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• Team Name -</a:t>
            </a:r>
            <a:r>
              <a:rPr b="0" dirty="0">
                <a:solidFill>
                  <a:srgbClr val="232323"/>
                </a:solidFill>
                <a:latin typeface="Arial"/>
              </a:rPr>
              <a:t> </a:t>
            </a:r>
            <a:r>
              <a:rPr b="0" dirty="0" err="1">
                <a:solidFill>
                  <a:srgbClr val="232323"/>
                </a:solidFill>
                <a:latin typeface="Arial"/>
              </a:rPr>
              <a:t>TeraPulse</a:t>
            </a:r>
            <a:endParaRPr b="0" dirty="0">
              <a:solidFill>
                <a:srgbClr val="232323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• Team Members -</a:t>
            </a:r>
            <a:r>
              <a:rPr b="0" dirty="0">
                <a:solidFill>
                  <a:srgbClr val="232323"/>
                </a:solidFill>
                <a:latin typeface="Arial"/>
              </a:rPr>
              <a:t> Abhay Verma (Team Leader), Lokendra Singh,
Yashvardhan Jain, Chetan Meena, Sachin Chaubey, Esha Verma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• Institute -</a:t>
            </a:r>
            <a:r>
              <a:rPr b="0" dirty="0">
                <a:solidFill>
                  <a:srgbClr val="232323"/>
                </a:solidFill>
                <a:latin typeface="Arial"/>
              </a:rPr>
              <a:t> Indian Institute of Information Technology Bhopal</a:t>
            </a:r>
          </a:p>
        </p:txBody>
      </p:sp>
      <p:pic>
        <p:nvPicPr>
          <p:cNvPr id="6" name="Picture 5" descr="sih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978" y="1344168"/>
            <a:ext cx="4754880" cy="508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PROPOSED SOLUTION &amp; INNOVATION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Ins="548640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60350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❖ Proposed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035040" cy="2560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dirty="0">
                <a:solidFill>
                  <a:srgbClr val="000000"/>
                </a:solidFill>
                <a:latin typeface="Arial"/>
              </a:rPr>
              <a:t>• 2.5D Semantic Elevation Map: </a:t>
            </a:r>
            <a:r>
              <a:rPr sz="1250" b="0" dirty="0">
                <a:solidFill>
                  <a:srgbClr val="232323"/>
                </a:solidFill>
                <a:latin typeface="Arial"/>
              </a:rPr>
              <a:t>Generated directly from raw LiDAR point clouds.</a:t>
            </a:r>
          </a:p>
          <a:p>
            <a:pPr>
              <a:spcAft>
                <a:spcPts val="400"/>
              </a:spcAft>
            </a:pPr>
            <a:r>
              <a:rPr sz="1250" b="1" dirty="0">
                <a:solidFill>
                  <a:srgbClr val="000000"/>
                </a:solidFill>
                <a:latin typeface="Arial"/>
              </a:rPr>
              <a:t>• High-Precision Near Field: </a:t>
            </a:r>
            <a:r>
              <a:rPr sz="1250" b="0" dirty="0">
                <a:solidFill>
                  <a:srgbClr val="232323"/>
                </a:solidFill>
                <a:latin typeface="Arial"/>
              </a:rPr>
              <a:t>Fine resolution (0.25 m) near vehicle for critical steering.</a:t>
            </a:r>
          </a:p>
          <a:p>
            <a:pPr>
              <a:spcAft>
                <a:spcPts val="400"/>
              </a:spcAft>
            </a:pPr>
            <a:r>
              <a:rPr sz="1250" b="1" dirty="0">
                <a:solidFill>
                  <a:srgbClr val="000000"/>
                </a:solidFill>
                <a:latin typeface="Arial"/>
              </a:rPr>
              <a:t>• Bandwidth-Saving Far Field: </a:t>
            </a:r>
            <a:r>
              <a:rPr sz="1250" b="0" dirty="0">
                <a:solidFill>
                  <a:srgbClr val="232323"/>
                </a:solidFill>
                <a:latin typeface="Arial"/>
              </a:rPr>
              <a:t>Lower resolution (0.75 m &amp; 2.0 m) for distant regions - cuts unnecessary compute.</a:t>
            </a:r>
          </a:p>
          <a:p>
            <a:pPr>
              <a:spcAft>
                <a:spcPts val="400"/>
              </a:spcAft>
            </a:pPr>
            <a:r>
              <a:rPr sz="1250" b="1" dirty="0">
                <a:solidFill>
                  <a:srgbClr val="000000"/>
                </a:solidFill>
                <a:latin typeface="Arial"/>
              </a:rPr>
              <a:t>• Elevation &amp; Slope Awareness: </a:t>
            </a:r>
            <a:r>
              <a:rPr sz="1250" b="0" dirty="0">
                <a:solidFill>
                  <a:srgbClr val="232323"/>
                </a:solidFill>
                <a:latin typeface="Arial"/>
              </a:rPr>
              <a:t>Preserves terrain slopes, curbs &amp; ditches without full 3D voxels.</a:t>
            </a:r>
          </a:p>
          <a:p>
            <a:pPr>
              <a:spcAft>
                <a:spcPts val="400"/>
              </a:spcAft>
            </a:pPr>
            <a:r>
              <a:rPr sz="1250" b="1" dirty="0">
                <a:solidFill>
                  <a:srgbClr val="000000"/>
                </a:solidFill>
                <a:latin typeface="Arial"/>
              </a:rPr>
              <a:t>• Real-Time Terrain Intelligence: </a:t>
            </a:r>
            <a:r>
              <a:rPr sz="1250" b="0" dirty="0">
                <a:solidFill>
                  <a:srgbClr val="232323"/>
                </a:solidFill>
                <a:latin typeface="Arial"/>
              </a:rPr>
              <a:t>Identifies drivable ground, static obstacles &amp; dynamic objects.</a:t>
            </a:r>
          </a:p>
          <a:p>
            <a:pPr>
              <a:spcAft>
                <a:spcPts val="400"/>
              </a:spcAft>
            </a:pPr>
            <a:r>
              <a:rPr sz="1250" b="1" dirty="0">
                <a:solidFill>
                  <a:srgbClr val="000000"/>
                </a:solidFill>
                <a:latin typeface="Arial"/>
              </a:rPr>
              <a:t>• Autonomous Navigation Ready: </a:t>
            </a:r>
            <a:r>
              <a:rPr sz="1250" b="0" dirty="0">
                <a:solidFill>
                  <a:srgbClr val="232323"/>
                </a:solidFill>
                <a:latin typeface="Arial"/>
              </a:rPr>
              <a:t>Enables instant A* path planning &amp; Pure Pursuit motion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60350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❖ Innovation &amp; Uniqueness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603504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Foveated adaptive resolution </a:t>
            </a:r>
            <a:r>
              <a:rPr sz="1250" i="1">
                <a:solidFill>
                  <a:srgbClr val="232323"/>
                </a:solidFill>
                <a:latin typeface="Arial"/>
              </a:rPr>
              <a:t>focuses computational resources where they matter most, instead of processing the entire environment at the same resolution.</a:t>
            </a:r>
          </a:p>
          <a:p>
            <a:r>
              <a:rPr sz="1250" b="1">
                <a:solidFill>
                  <a:srgbClr val="000000"/>
                </a:solidFill>
                <a:latin typeface="Arial"/>
              </a:rPr>
              <a:t>• Measurable Impact: </a:t>
            </a:r>
            <a:r>
              <a:rPr sz="1250" b="0">
                <a:solidFill>
                  <a:srgbClr val="232323"/>
                </a:solidFill>
                <a:latin typeface="Arial"/>
              </a:rPr>
              <a:t>Slashes cell memory by 66.2% and cuts processing latency to 24.23 ms (41.3 FPS, exceeding 30 FPS real-time threshold).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Foveated 2.5D Semantic Elevation Map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1600200"/>
            <a:ext cx="3840480" cy="3840480"/>
          </a:xfrm>
          <a:prstGeom prst="ellipse">
            <a:avLst/>
          </a:prstGeom>
          <a:solidFill>
            <a:srgbClr val="BEDCFA"/>
          </a:solidFill>
          <a:ln w="25400">
            <a:solidFill>
              <a:srgbClr val="64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75320" y="2560320"/>
            <a:ext cx="1920240" cy="1920240"/>
          </a:xfrm>
          <a:prstGeom prst="ellipse">
            <a:avLst/>
          </a:prstGeom>
          <a:solidFill>
            <a:srgbClr val="64AAF0"/>
          </a:solidFill>
          <a:ln w="25400">
            <a:solidFill>
              <a:srgbClr val="32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61120" y="3291840"/>
            <a:ext cx="548640" cy="457200"/>
          </a:xfrm>
          <a:prstGeom prst="roundRect">
            <a:avLst/>
          </a:prstGeom>
          <a:solidFill>
            <a:srgbClr val="D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95360" y="292608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92640" y="292608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86800" y="384048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0" y="393192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12480" y="347472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75520" y="338328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61120" y="274320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326880" y="420624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80960" y="210312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424160" y="210312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589520" y="448056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698480" y="429768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98079" y="320040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881360" y="320040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052560" y="173736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235440" y="521208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0" y="5532120"/>
            <a:ext cx="228600" cy="228600"/>
          </a:xfrm>
          <a:prstGeom prst="rect">
            <a:avLst/>
          </a:prstGeom>
          <a:solidFill>
            <a:srgbClr val="64A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35240" y="5486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323"/>
                </a:solidFill>
                <a:latin typeface="Arial"/>
              </a:defRPr>
            </a:pPr>
            <a:r>
              <a:t>High resolution near the vehicle (near-field: 0.25 m bubble)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5897880"/>
            <a:ext cx="228600" cy="228600"/>
          </a:xfrm>
          <a:prstGeom prst="rect">
            <a:avLst/>
          </a:prstGeom>
          <a:solidFill>
            <a:srgbClr val="BED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35240" y="58521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323"/>
                </a:solidFill>
                <a:latin typeface="Arial"/>
              </a:defRPr>
            </a:pPr>
            <a:r>
              <a:t>Lower resolution for distant regions (far-field: 0.75m &amp; 2.0m)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Ins="548640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2062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System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4206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LiDAR Point Cloud</a:t>
            </a:r>
          </a:p>
        </p:txBody>
      </p:sp>
      <p:sp>
        <p:nvSpPr>
          <p:cNvPr id="9" name="Down Arrow 8"/>
          <p:cNvSpPr/>
          <p:nvPr/>
        </p:nvSpPr>
        <p:spPr>
          <a:xfrm>
            <a:off x="2542032" y="2167128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2386584"/>
            <a:ext cx="4206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Preprocessing &amp; Noise Removal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542032" y="2862072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3081528"/>
            <a:ext cx="4206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Semantic Understanding (RandLA-Net)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542032" y="3557016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3776472"/>
            <a:ext cx="4206240" cy="457200"/>
          </a:xfrm>
          <a:prstGeom prst="roundRect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Foveated Adaptive Grid Generation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542032" y="4251960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4471416"/>
            <a:ext cx="4206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2.5D Semantic Elevation Map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4946904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4206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Real-Time Visualization &amp;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188720"/>
            <a:ext cx="64922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Technologies &amp;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600200"/>
            <a:ext cx="649224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Python, Open3D &amp; NumPy: </a:t>
            </a:r>
            <a:r>
              <a:rPr sz="1100" b="0">
                <a:solidFill>
                  <a:srgbClr val="232323"/>
                </a:solidFill>
                <a:latin typeface="Arial"/>
              </a:rPr>
              <a:t>Point cloud preprocessing, voxelization &amp; spatial hashing.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Quantized RandLA-Net: </a:t>
            </a:r>
            <a:r>
              <a:rPr sz="1100" b="0">
                <a:solidFill>
                  <a:srgbClr val="232323"/>
                </a:solidFill>
                <a:latin typeface="Arial"/>
              </a:rPr>
              <a:t>1.25M params, INT8 TensorRT backbone (~8.4 ms inference within 24.23 ms budget).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A* Search &amp; Pure Pursuit: </a:t>
            </a:r>
            <a:r>
              <a:rPr sz="1100" b="0">
                <a:solidFill>
                  <a:srgbClr val="232323"/>
                </a:solidFill>
                <a:latin typeface="Arial"/>
              </a:rPr>
              <a:t>Collision-free path planning &amp; smooth 10 Hz vehicle steering kinematics.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Interactive Web Dashboard: </a:t>
            </a:r>
            <a:r>
              <a:rPr sz="1100" b="0">
                <a:solidFill>
                  <a:srgbClr val="232323"/>
                </a:solidFill>
                <a:latin typeface="Arial"/>
              </a:rPr>
              <a:t>Flask REST API, 60 FPS HTML5 Canvas with moving foveation bubble.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C4CC068-C5AC-1835-6840-0D2840FE2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39" y="2899420"/>
            <a:ext cx="6397113" cy="3089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Ins="548640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201168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12064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Standard Datasets: </a:t>
            </a:r>
            <a:r>
              <a:rPr sz="1100" b="0">
                <a:solidFill>
                  <a:srgbClr val="232323"/>
                </a:solidFill>
                <a:latin typeface="Arial"/>
              </a:rPr>
              <a:t>Uses widely available LiDAR point cloud datasets &amp; open-source tools.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Rapid Development: </a:t>
            </a:r>
            <a:r>
              <a:rPr sz="1100" b="0">
                <a:solidFill>
                  <a:srgbClr val="232323"/>
                </a:solidFill>
                <a:latin typeface="Arial"/>
              </a:rPr>
              <a:t>Python, Open3D, and PyTorch enable agile modular prototyping.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Edge Hardware Validation: </a:t>
            </a:r>
            <a:r>
              <a:rPr sz="1100" b="0">
                <a:solidFill>
                  <a:srgbClr val="232323"/>
                </a:solidFill>
                <a:latin typeface="Arial"/>
              </a:rPr>
              <a:t>Targeted for NVIDIA Jetson Orin Nano (8GB, 15W mode) with TensorRT &amp; CUDA.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Modular Pipeline: </a:t>
            </a:r>
            <a:r>
              <a:rPr sz="1100" b="0">
                <a:solidFill>
                  <a:srgbClr val="232323"/>
                </a:solidFill>
                <a:latin typeface="Arial"/>
              </a:rPr>
              <a:t>Components tested independently with 5/5 automated unit tests passing.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201168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512064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Heavy Data Stream: </a:t>
            </a:r>
            <a:r>
              <a:rPr sz="1100" b="0">
                <a:solidFill>
                  <a:srgbClr val="232323"/>
                </a:solidFill>
                <a:latin typeface="Arial"/>
              </a:rPr>
              <a:t>Real-time processing of large LiDAR point clouds at 10-20 Hz.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Off-Road Accuracy: </a:t>
            </a:r>
            <a:r>
              <a:rPr sz="1100" b="0">
                <a:solidFill>
                  <a:srgbClr val="232323"/>
                </a:solidFill>
                <a:latin typeface="Arial"/>
              </a:rPr>
              <a:t>Accurate semantic classification in unstructured off-road scenes.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Underpasses &amp; Tunnels: </a:t>
            </a:r>
            <a:r>
              <a:rPr sz="1100" b="0">
                <a:solidFill>
                  <a:srgbClr val="232323"/>
                </a:solidFill>
                <a:latin typeface="Arial"/>
              </a:rPr>
              <a:t>Avoiding false-positive obstacle detection for bridge ceilings.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Detail Retention: </a:t>
            </a:r>
            <a:r>
              <a:rPr sz="1100" b="0">
                <a:solidFill>
                  <a:srgbClr val="232323"/>
                </a:solidFill>
                <a:latin typeface="Arial"/>
              </a:rPr>
              <a:t>Maintaining critical safety clearance while reducing distant resolution.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188720"/>
            <a:ext cx="18288" cy="5120640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72200" y="1143000"/>
            <a:ext cx="246888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Mitigation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91640"/>
            <a:ext cx="548640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Foveated Attention: </a:t>
            </a:r>
            <a:r>
              <a:rPr sz="1100" b="0">
                <a:solidFill>
                  <a:srgbClr val="232323"/>
                </a:solidFill>
                <a:latin typeface="Arial"/>
              </a:rPr>
              <a:t>Variable-resolution mapping concentrates compute in near-field (24.23 ms).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SOR &amp; RANSAC Fit: </a:t>
            </a:r>
            <a:r>
              <a:rPr sz="1100" b="0">
                <a:solidFill>
                  <a:srgbClr val="232323"/>
                </a:solidFill>
                <a:latin typeface="Arial"/>
              </a:rPr>
              <a:t>Statistical Outlier Removal &amp; ground fit eliminate dust &amp; sensor reflections.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Vertical Clearance: </a:t>
            </a:r>
            <a:r>
              <a:rPr sz="1100" b="0">
                <a:solidFill>
                  <a:srgbClr val="232323"/>
                </a:solidFill>
                <a:latin typeface="Arial"/>
              </a:rPr>
              <a:t>Clearance filter ignores points &gt;2.2 m, enabling safe tunnel traversal.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Proven Edge Benchmark: </a:t>
            </a:r>
            <a:r>
              <a:rPr sz="1100" b="0">
                <a:solidFill>
                  <a:srgbClr val="232323"/>
                </a:solidFill>
                <a:latin typeface="Arial"/>
              </a:rPr>
              <a:t>Benchmarked on Jetson Orin Nano edge platform (not desktop GPU) at 41.3 FPS (24.23 ms).</a:t>
            </a:r>
          </a:p>
        </p:txBody>
      </p:sp>
      <p:pic>
        <p:nvPicPr>
          <p:cNvPr id="14" name="Picture 13" descr="overbridge_concep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337560"/>
            <a:ext cx="5440680" cy="3036659"/>
          </a:xfrm>
          <a:prstGeom prst="rect">
            <a:avLst/>
          </a:prstGeom>
          <a:ln w="12700">
            <a:solidFill>
              <a:srgbClr val="BFC0BF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Ins="548640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1920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38912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Tactical UGV Navigation: </a:t>
            </a:r>
            <a:r>
              <a:rPr sz="1100" b="0">
                <a:solidFill>
                  <a:srgbClr val="232323"/>
                </a:solidFill>
                <a:latin typeface="Arial"/>
              </a:rPr>
              <a:t>Supports safer and faster autonomous military navigation.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Critical Near-Field Safety: </a:t>
            </a:r>
            <a:r>
              <a:rPr sz="1100" b="0">
                <a:solidFill>
                  <a:srgbClr val="232323"/>
                </a:solidFill>
                <a:latin typeface="Arial"/>
              </a:rPr>
              <a:t>Sub-meter precision in safety-critical perimeter around vehicle.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Zero-Visibility Ops: </a:t>
            </a:r>
            <a:r>
              <a:rPr sz="1100" b="0">
                <a:solidFill>
                  <a:srgbClr val="232323"/>
                </a:solidFill>
                <a:latin typeface="Arial"/>
              </a:rPr>
              <a:t>Active LiDAR is invariant to total pitch darkness and harsh glare.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Terrain Intelligence: </a:t>
            </a:r>
            <a:r>
              <a:rPr sz="1100" b="0">
                <a:solidFill>
                  <a:srgbClr val="232323"/>
                </a:solidFill>
                <a:latin typeface="Arial"/>
              </a:rPr>
              <a:t>Real-time elevation slope, ditches &amp; surface roughness understanding.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210312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438912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Defence &amp; Tactical UGVs: </a:t>
            </a:r>
            <a:r>
              <a:rPr sz="1100" b="0">
                <a:solidFill>
                  <a:srgbClr val="232323"/>
                </a:solidFill>
                <a:latin typeface="Arial"/>
              </a:rPr>
              <a:t>Logistics convoys, perimeter patrols, scout rovers &amp; minefield recon.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Off-Road Autonomous Rovers: </a:t>
            </a:r>
            <a:r>
              <a:rPr sz="1100" b="0">
                <a:solidFill>
                  <a:srgbClr val="232323"/>
                </a:solidFill>
                <a:latin typeface="Arial"/>
              </a:rPr>
              <a:t>Search-and-rescue rovers in disaster zones, agricultural robotics.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Driver Assistance (ADAS): </a:t>
            </a:r>
            <a:r>
              <a:rPr sz="1100" b="0">
                <a:solidFill>
                  <a:srgbClr val="232323"/>
                </a:solidFill>
                <a:latin typeface="Arial"/>
              </a:rPr>
              <a:t>Intelligent terrain HUD and active collision prevention in dense fog.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188720"/>
            <a:ext cx="18288" cy="5120640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94960" y="1143000"/>
            <a:ext cx="1920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691640"/>
            <a:ext cx="62179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66.2% Memory Reduction: </a:t>
            </a:r>
            <a:r>
              <a:rPr sz="1100" b="0">
                <a:solidFill>
                  <a:srgbClr val="232323"/>
                </a:solidFill>
                <a:latin typeface="Arial"/>
              </a:rPr>
              <a:t>Active planning window / ROI cells drop from 2,888 to 976 via foveated concentration.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4.8x Faster Latency: </a:t>
            </a:r>
            <a:r>
              <a:rPr sz="1100" b="0">
                <a:solidFill>
                  <a:srgbClr val="232323"/>
                </a:solidFill>
                <a:latin typeface="Arial"/>
              </a:rPr>
              <a:t>Down from 115.94 ms to 24.23 ms (41.3 FPS) on NVIDIA Jetson Orin Nano (8GB, 15W mode).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Full 2.5D Elevation Profile: </a:t>
            </a:r>
            <a:r>
              <a:rPr sz="1100" b="0">
                <a:solidFill>
                  <a:srgbClr val="232323"/>
                </a:solidFill>
                <a:latin typeface="Arial"/>
              </a:rPr>
              <a:t>Preserves critical ground slope, curbs &amp; height without voxel clutter.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Verified Path Traversability: </a:t>
            </a:r>
            <a:r>
              <a:rPr sz="1100" b="0">
                <a:solidFill>
                  <a:srgbClr val="232323"/>
                </a:solidFill>
                <a:latin typeface="Arial"/>
              </a:rPr>
              <a:t>817 safe corridor cells verified with smooth 10 Hz Pure Pursuit steering.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4960" y="3657600"/>
          <a:ext cx="62179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 anchor="ctr"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Uniform Grid</a:t>
                      </a:r>
                    </a:p>
                  </a:txBody>
                  <a:tcPr anchor="ctr"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TeraPulse Foveated</a:t>
                      </a:r>
                    </a:p>
                  </a:txBody>
                  <a:tcPr anchor="ctr"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Practical Advantage</a:t>
                      </a:r>
                    </a:p>
                  </a:txBody>
                  <a:tcPr anchor="ctr"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 Planning Window / ROI Cells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2,888 cells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976 cells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66.2% RAM Saved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Edge Compute 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115.94 ms (Desktop CPU)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24.23 ms (Jetson Orin)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4.8x Real-Time Edge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Benchmark Platform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High-End Desktop GPU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Jetson Orin Nano (15W)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True Edge Deployment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Path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Delayed Waypoints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10 Hz Dynamic Telemetry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Safe Agile Steering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Ins="548640" rtlCol="0" anchor="ctr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3891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Research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43891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LiDAR Point Cloud Processing: </a:t>
            </a:r>
            <a:r>
              <a:rPr sz="1100" b="0">
                <a:solidFill>
                  <a:srgbClr val="232323"/>
                </a:solidFill>
                <a:latin typeface="Arial"/>
              </a:rPr>
              <a:t>Statistical outlier removal &amp; RANSAC ground plane fit.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2.5D Elevation Mapping: </a:t>
            </a:r>
            <a:r>
              <a:rPr sz="1100" b="0">
                <a:solidFill>
                  <a:srgbClr val="232323"/>
                </a:solidFill>
                <a:latin typeface="Arial"/>
              </a:rPr>
              <a:t>Robot-centric height &amp; slope mapping for rough terrain.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Semantic Segmentation: </a:t>
            </a:r>
            <a:r>
              <a:rPr sz="1100" b="0">
                <a:solidFill>
                  <a:srgbClr val="232323"/>
                </a:solidFill>
                <a:latin typeface="Arial"/>
              </a:rPr>
              <a:t>Quantized RandLA-Net (1.25M params, INT8 TensorRT, ~8.4 ms inference).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Autonomous Navigation: </a:t>
            </a:r>
            <a:r>
              <a:rPr sz="1100" b="0">
                <a:solidFill>
                  <a:srgbClr val="232323"/>
                </a:solidFill>
                <a:latin typeface="Arial"/>
              </a:rPr>
              <a:t>A* heuristic planning &amp; Pure Pursuit vehicle kinematics.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Adaptive Spatial Hashing: </a:t>
            </a:r>
            <a:r>
              <a:rPr sz="1100" b="0">
                <a:solidFill>
                  <a:srgbClr val="232323"/>
                </a:solidFill>
                <a:latin typeface="Arial"/>
              </a:rPr>
              <a:t>Foveated variable-resolution concentric indexing.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43891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438912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KITTI Vision Suite: </a:t>
            </a:r>
            <a:r>
              <a:rPr sz="1100" b="0">
                <a:solidFill>
                  <a:srgbClr val="232323"/>
                </a:solidFill>
                <a:latin typeface="Arial"/>
              </a:rPr>
              <a:t>Geiger et al., Velodyne HDL-64E LiDAR benchmark.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ETH Zurich Mapping: </a:t>
            </a:r>
            <a:r>
              <a:rPr sz="1100" b="0">
                <a:solidFill>
                  <a:srgbClr val="232323"/>
                </a:solidFill>
                <a:latin typeface="Arial"/>
              </a:rPr>
              <a:t>P. Fankhauser et al. (IEEE IROS), Robot-Centric Elevation Mapping.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CMU Pure Pursuit: </a:t>
            </a:r>
            <a:r>
              <a:rPr sz="1100" b="0">
                <a:solidFill>
                  <a:srgbClr val="232323"/>
                </a:solidFill>
                <a:latin typeface="Arial"/>
              </a:rPr>
              <a:t>R. C. Coulter (Carnegie Mellon), Pure Pursuit Path Tracking.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Point Cloud ML: </a:t>
            </a:r>
            <a:r>
              <a:rPr sz="1100" b="0">
                <a:solidFill>
                  <a:srgbClr val="232323"/>
                </a:solidFill>
                <a:latin typeface="Arial"/>
              </a:rPr>
              <a:t>Q. Hu et al. (CVPR), RandLA-Net Point Cloud Segmentation (INT8 TensorRT).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Open-Source Tools: </a:t>
            </a:r>
            <a:r>
              <a:rPr sz="1100" b="0">
                <a:solidFill>
                  <a:srgbClr val="232323"/>
                </a:solidFill>
                <a:latin typeface="Arial"/>
              </a:rPr>
              <a:t>Open3D, PyTorch, NumPy, Flask REST APIs.</a:t>
            </a:r>
          </a:p>
        </p:txBody>
      </p:sp>
      <p:pic>
        <p:nvPicPr>
          <p:cNvPr id="11" name="Picture 10" descr="colored_research_pipel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188720"/>
            <a:ext cx="6309360" cy="35215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2080" y="4709160"/>
            <a:ext cx="45720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Project Deliverables &amp; Live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5120640"/>
            <a:ext cx="457200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Live Working Prototype: </a:t>
            </a:r>
            <a:r>
              <a:rPr sz="1000" b="1" u="sng">
                <a:solidFill>
                  <a:srgbClr val="006FC0"/>
                </a:solidFill>
                <a:latin typeface="Arial"/>
                <a:hlinkClick r:id="rId4"/>
              </a:rPr>
              <a:t>https://abhayverma628.github.io/SIH26053_Lidar/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GitHub Repository: </a:t>
            </a:r>
            <a:r>
              <a:rPr sz="1000" b="1" u="sng">
                <a:solidFill>
                  <a:srgbClr val="006FC0"/>
                </a:solidFill>
                <a:latin typeface="Arial"/>
                <a:hlinkClick r:id="rId5"/>
              </a:rPr>
              <a:t>https://github.com/AbhayVerma628/SIH26053_Lidar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Interactive Web Simulator: </a:t>
            </a:r>
            <a:r>
              <a:rPr sz="1000" b="0">
                <a:solidFill>
                  <a:srgbClr val="232323"/>
                </a:solidFill>
                <a:latin typeface="Arial"/>
              </a:rPr>
              <a:t>60 FPS Canvas with real-time foveation &amp; A* route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Telemetry &amp; Verification: </a:t>
            </a:r>
            <a:r>
              <a:rPr sz="1000" b="0">
                <a:solidFill>
                  <a:srgbClr val="232323"/>
                </a:solidFill>
                <a:latin typeface="Arial"/>
              </a:rPr>
              <a:t>5/5 unit tests passed, 10 Hz vehicle telemetry</a:t>
            </a:r>
          </a:p>
        </p:txBody>
      </p:sp>
      <p:pic>
        <p:nvPicPr>
          <p:cNvPr id="14" name="Picture 13" descr="prototype_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4800600"/>
            <a:ext cx="1188720" cy="1188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58400" y="5989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6FC0"/>
                </a:solidFill>
                <a:latin typeface="Arial"/>
              </a:defRPr>
            </a:pPr>
            <a:r>
              <a:t>Scan for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1099</Words>
  <Application>Microsoft Office PowerPoint</Application>
  <PresentationFormat>Widescreen</PresentationFormat>
  <Paragraphs>117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ABHAY VERMA</cp:lastModifiedBy>
  <cp:revision>3</cp:revision>
  <dcterms:created xsi:type="dcterms:W3CDTF">2013-01-27T09:14:16Z</dcterms:created>
  <dcterms:modified xsi:type="dcterms:W3CDTF">2026-09-29T09:02:01Z</dcterms:modified>
  <cp:category/>
</cp:coreProperties>
</file>