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E40AF"/>
                </a:solidFill>
                <a:latin typeface="Arial"/>
              </a:defRPr>
            </a:pPr>
            <a:r>
              <a:t>SMART INDIA HACKATHON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10698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700" b="1">
                <a:solidFill>
                  <a:srgbClr val="0F172A"/>
                </a:solidFill>
                <a:latin typeface="Arial"/>
              </a:defRPr>
            </a:pPr>
            <a:r>
              <a:t>Adaptive Foveated 2.5D Semantic Mapping for Autonomous Navigation</a:t>
            </a:r>
          </a:p>
          <a:p>
            <a:pPr>
              <a:defRPr sz="1350">
                <a:solidFill>
                  <a:srgbClr val="0284C7"/>
                </a:solidFill>
                <a:latin typeface="Arial"/>
              </a:defRPr>
            </a:pPr>
            <a:r>
              <a:t>High-Speed Variable-Resolution Perception &amp; Real-Time Kinematic Control for Tactical UGVs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240280"/>
            <a:ext cx="5212080" cy="411480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>
              <a:spcAft>
                <a:spcPts val="800"/>
              </a:spcAft>
              <a:defRPr sz="1500" b="1">
                <a:solidFill>
                  <a:srgbClr val="1E40AF"/>
                </a:solidFill>
                <a:latin typeface="Arial"/>
              </a:defRPr>
            </a:pPr>
            <a:r>
              <a:t>📌 Problem Statement Details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Arial"/>
              </a:defRPr>
            </a:pPr>
            <a:r>
              <a:t>• Problem Statement ID: 26053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Arial"/>
              </a:defRPr>
            </a:pPr>
            <a:r>
              <a:t>• Category / Domain: Software  |  Ministry of Defence / DRDO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Arial"/>
              </a:defRPr>
            </a:pPr>
            <a:r>
              <a:t>• Theme: Smart Vehicles / Autonomous Systems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Arial"/>
              </a:defRPr>
            </a:pPr>
            <a:r>
              <a:t>• Target Deployment: Defense Unmanned Ground Vehicles (UGVs)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Arial"/>
              </a:defRPr>
            </a:pPr>
            <a:r>
              <a:t>• Operational Scope: Off-road, rough terrain, GPS-denied environments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Arial"/>
              </a:defRPr>
            </a:pPr>
            <a:r>
              <a:t>• Core Breakthrough: Foveated 2.5D variable-resolution spatial hashing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2240280"/>
            <a:ext cx="5212080" cy="411480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>
              <a:spcAft>
                <a:spcPts val="800"/>
              </a:spcAft>
              <a:defRPr sz="1500" b="1">
                <a:solidFill>
                  <a:srgbClr val="1E40AF"/>
                </a:solidFill>
                <a:latin typeface="Arial"/>
              </a:defRPr>
            </a:pPr>
            <a:r>
              <a:t>👥 Team TeraPulse — IIIT Bhopal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Arial"/>
              </a:defRPr>
            </a:pPr>
            <a:r>
              <a:t>• Team Leader: Abhay Verma (Pipeline Integration &amp; Control)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Arial"/>
              </a:defRPr>
            </a:pPr>
            <a:r>
              <a:t>• Member 2: Lokendra Singh (Adaptive Grid Engine &amp; Benchmark)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Arial"/>
              </a:defRPr>
            </a:pPr>
            <a:r>
              <a:t>• Member 3: Yashvardhan Jain (LiDAR Preprocessing &amp; Noise Rejection)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Arial"/>
              </a:defRPr>
            </a:pPr>
            <a:r>
              <a:t>• Member 4: Chetan Meena (Semantic Terrain Segmentation &amp; ML)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Arial"/>
              </a:defRPr>
            </a:pPr>
            <a:r>
              <a:t>• Member 5: Sachin Chaubey (Visualization, UI Dashboard &amp; Testing)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Arial"/>
              </a:defRPr>
            </a:pPr>
            <a:r>
              <a:t>• Institute: Indian Institute of Information Technology Bhopal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Arial"/>
              </a:defRPr>
            </a:pPr>
            <a:r>
              <a:t>• Repository: github.com/AbhayVerma628/SIH26053_Lidar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92240"/>
            <a:ext cx="1069848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Arial"/>
              </a:defRPr>
            </a:pPr>
            <a:r>
              <a:t>Team TeraPulse — IIIT Bhopal  |  @SIH Idea submission- Template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896112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Arial"/>
              </a:defRPr>
            </a:pPr>
            <a:r>
              <a:t>PROPOSED SOLUTION &amp; INNOVATION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784080" y="228600"/>
            <a:ext cx="1828800" cy="438912"/>
          </a:xfrm>
          <a:prstGeom prst="round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  <a:latin typeface="Arial"/>
              </a:defRPr>
            </a:pPr>
            <a:r>
              <a:t>SIH 2026 | PS-26053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Arial"/>
              </a:defRPr>
            </a:pPr>
            <a:r>
              <a:t>Team TeraPulse — IIIT Bhopal  |  @SIH Idea submission- Template 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051560"/>
            <a:ext cx="5486400" cy="393192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/>
          <a:lstStyle/>
          <a:p>
            <a:pPr algn="ctr">
              <a:spcAft>
                <a:spcPts val="600"/>
              </a:spcAft>
              <a:defRPr sz="1400" b="1">
                <a:solidFill>
                  <a:srgbClr val="1E40AF"/>
                </a:solidFill>
                <a:latin typeface="Arial"/>
              </a:defRPr>
            </a:pPr>
            <a:r>
              <a:t>❖ Proposed Solution: TERA PULSE Architecture</a:t>
            </a:r>
          </a:p>
          <a:p>
            <a:pPr>
              <a:spcAft>
                <a:spcPts val="400"/>
              </a:spcAft>
              <a:defRPr sz="1000">
                <a:solidFill>
                  <a:srgbClr val="1E293B"/>
                </a:solidFill>
                <a:latin typeface="Arial"/>
              </a:defRPr>
            </a:pPr>
            <a:r>
              <a:t>• Foveated 2.5D Elevation Grid: Transforms millions of 3D LiDAR points into an egocentric multi-resolution heightmap anchored to the vehicle.</a:t>
            </a:r>
          </a:p>
          <a:p>
            <a:pPr>
              <a:spcAft>
                <a:spcPts val="400"/>
              </a:spcAft>
              <a:defRPr sz="1000">
                <a:solidFill>
                  <a:srgbClr val="1E293B"/>
                </a:solidFill>
                <a:latin typeface="Arial"/>
              </a:defRPr>
            </a:pPr>
            <a:r>
              <a:t>• Near Field (0 – 10 m): Ultra-fine 0.25 m resolution for millimetric obstacle clearance, step height, and reactive steering.</a:t>
            </a:r>
          </a:p>
          <a:p>
            <a:pPr>
              <a:spcAft>
                <a:spcPts val="400"/>
              </a:spcAft>
              <a:defRPr sz="1000">
                <a:solidFill>
                  <a:srgbClr val="1E293B"/>
                </a:solidFill>
                <a:latin typeface="Arial"/>
              </a:defRPr>
            </a:pPr>
            <a:r>
              <a:t>• Middle Field (10 – 30 m): Medium 0.75 m resolution capturing corridor contours and upcoming turns without memory bloat.</a:t>
            </a:r>
          </a:p>
          <a:p>
            <a:pPr>
              <a:spcAft>
                <a:spcPts val="400"/>
              </a:spcAft>
              <a:defRPr sz="1000">
                <a:solidFill>
                  <a:srgbClr val="1E293B"/>
                </a:solidFill>
                <a:latin typeface="Arial"/>
              </a:defRPr>
            </a:pPr>
            <a:r>
              <a:t>• Far Field (30 – 100 m): Coarse 2.00 m resolution providing global situational context with minimal cell allocations.</a:t>
            </a:r>
          </a:p>
          <a:p>
            <a:pPr>
              <a:spcAft>
                <a:spcPts val="400"/>
              </a:spcAft>
              <a:defRPr sz="1000">
                <a:solidFill>
                  <a:srgbClr val="1E293B"/>
                </a:solidFill>
                <a:latin typeface="Arial"/>
              </a:defRPr>
            </a:pPr>
            <a:r>
              <a:t>• Semantic Terrain Profiling: Every cell stores Z_max, Z_mean, slope gradient, surface roughness, and classification (Ground, Obstacle, Dynamic).</a:t>
            </a:r>
          </a:p>
          <a:p>
            <a:pPr>
              <a:spcAft>
                <a:spcPts val="400"/>
              </a:spcAft>
              <a:defRPr sz="1000">
                <a:solidFill>
                  <a:srgbClr val="1E293B"/>
                </a:solidFill>
                <a:latin typeface="Arial"/>
              </a:defRPr>
            </a:pPr>
            <a:r>
              <a:t>• Closed-Loop Navigation: Feeds directly into A* path planning and Pure Pursuit kinematics for autonomous vehicle motion.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051560"/>
            <a:ext cx="5394960" cy="393192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/>
          <a:lstStyle/>
          <a:p>
            <a:pPr algn="ctr">
              <a:spcAft>
                <a:spcPts val="600"/>
              </a:spcAft>
              <a:defRPr sz="1400" b="1">
                <a:solidFill>
                  <a:srgbClr val="1E40AF"/>
                </a:solidFill>
                <a:latin typeface="Arial"/>
              </a:defRPr>
            </a:pPr>
            <a:r>
              <a:t>❖ Innovation &amp; Uniqueness</a:t>
            </a:r>
          </a:p>
          <a:p>
            <a:pPr>
              <a:spcAft>
                <a:spcPts val="400"/>
              </a:spcAft>
              <a:defRPr sz="1000">
                <a:solidFill>
                  <a:srgbClr val="1E293B"/>
                </a:solidFill>
                <a:latin typeface="Arial"/>
              </a:defRPr>
            </a:pPr>
            <a:r>
              <a:t>• Biomimetic Human-Eye Vision: Replaces uniform voxel brute-force with concentric attention bands, slashing compute load by 66.2%.</a:t>
            </a:r>
          </a:p>
          <a:p>
            <a:pPr>
              <a:spcAft>
                <a:spcPts val="400"/>
              </a:spcAft>
              <a:defRPr sz="1000">
                <a:solidFill>
                  <a:srgbClr val="1E293B"/>
                </a:solidFill>
                <a:latin typeface="Arial"/>
              </a:defRPr>
            </a:pPr>
            <a:r>
              <a:t>• 2.5D vs 3D Advantage: Delivers 90% of 3D geometric intelligence (slope, elevation, roughness) at the speed and lightweight RAM of a 2D map.</a:t>
            </a:r>
          </a:p>
          <a:p>
            <a:pPr>
              <a:spcAft>
                <a:spcPts val="400"/>
              </a:spcAft>
              <a:defRPr sz="1000">
                <a:solidFill>
                  <a:srgbClr val="1E293B"/>
                </a:solidFill>
                <a:latin typeface="Arial"/>
              </a:defRPr>
            </a:pPr>
            <a:r>
              <a:t>• Dynamic Moving Resolution Bubble: As the car drives, the fine 0.25 m bubble continuously moves with the vehicle [x(t), y(t)] at 60 FPS.</a:t>
            </a:r>
          </a:p>
          <a:p>
            <a:pPr>
              <a:spcAft>
                <a:spcPts val="400"/>
              </a:spcAft>
              <a:defRPr sz="1000">
                <a:solidFill>
                  <a:srgbClr val="1E293B"/>
                </a:solidFill>
                <a:latin typeface="Arial"/>
              </a:defRPr>
            </a:pPr>
            <a:r>
              <a:t>• Vertical Beam Clearance Analysis: Distinguishes solid walls from hollow underpasses/tunnels without requiring heavy 3D voxelization.</a:t>
            </a:r>
          </a:p>
          <a:p>
            <a:pPr>
              <a:spcAft>
                <a:spcPts val="400"/>
              </a:spcAft>
              <a:defRPr sz="1000">
                <a:solidFill>
                  <a:srgbClr val="1E293B"/>
                </a:solidFill>
                <a:latin typeface="Arial"/>
              </a:defRPr>
            </a:pPr>
            <a:r>
              <a:t>• Edge Deployment Ready: Runs in 24.23 ms (&gt;35 FPS), allowing real-time deployment on rugged low-power NVIDIA Jetson Orin &amp; Raspberry Pi.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5120640"/>
            <a:ext cx="3474720" cy="11887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64592"/>
          <a:lstStyle/>
          <a:p>
            <a:pPr algn="ctr">
              <a:defRPr sz="1400" b="1">
                <a:solidFill>
                  <a:srgbClr val="10B981"/>
                </a:solidFill>
                <a:latin typeface="Arial"/>
              </a:defRPr>
            </a:pPr>
            <a:r>
              <a:t>66.2% Cell Reduction</a:t>
            </a:r>
          </a:p>
          <a:p>
            <a:pPr algn="ctr">
              <a:defRPr sz="950">
                <a:solidFill>
                  <a:srgbClr val="64748B"/>
                </a:solidFill>
                <a:latin typeface="Arial"/>
              </a:defRPr>
            </a:pPr>
            <a:r>
              <a:t>2,888 uniform cells down to 976 adaptive cells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5120640"/>
            <a:ext cx="3474720" cy="11887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64592"/>
          <a:lstStyle/>
          <a:p>
            <a:pPr algn="ctr">
              <a:defRPr sz="1400" b="1">
                <a:solidFill>
                  <a:srgbClr val="0284C7"/>
                </a:solidFill>
                <a:latin typeface="Arial"/>
              </a:defRPr>
            </a:pPr>
            <a:r>
              <a:t>24.23 ms Mapping Latency</a:t>
            </a:r>
          </a:p>
          <a:p>
            <a:pPr algn="ctr">
              <a:defRPr sz="950">
                <a:solidFill>
                  <a:srgbClr val="64748B"/>
                </a:solidFill>
                <a:latin typeface="Arial"/>
              </a:defRPr>
            </a:pPr>
            <a:r>
              <a:t>4.8× faster than uniform grid (115.9 ms)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60" y="5120640"/>
            <a:ext cx="3474720" cy="11887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64592"/>
          <a:lstStyle/>
          <a:p>
            <a:pPr algn="ctr">
              <a:defRPr sz="1400" b="1">
                <a:solidFill>
                  <a:srgbClr val="F59E0B"/>
                </a:solidFill>
                <a:latin typeface="Arial"/>
              </a:defRPr>
            </a:pPr>
            <a:r>
              <a:t>83.7% Drivable Space</a:t>
            </a:r>
          </a:p>
          <a:p>
            <a:pPr algn="ctr">
              <a:defRPr sz="950">
                <a:solidFill>
                  <a:srgbClr val="64748B"/>
                </a:solidFill>
                <a:latin typeface="Arial"/>
              </a:defRPr>
            </a:pPr>
            <a:r>
              <a:t>Accurately separated safe corridor from obstacles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896112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Arial"/>
              </a:defRPr>
            </a:pPr>
            <a:r>
              <a:t>TECHNICAL APPROACH &amp; ARCHITECTURE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784080" y="228600"/>
            <a:ext cx="1828800" cy="438912"/>
          </a:xfrm>
          <a:prstGeom prst="round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  <a:latin typeface="Arial"/>
              </a:defRPr>
            </a:pPr>
            <a:r>
              <a:t>SIH 2026 | PS-26053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Arial"/>
              </a:defRPr>
            </a:pPr>
            <a:r>
              <a:t>Team TeraPulse — IIIT Bhopal  |  @SIH Idea submission- Template 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051560"/>
            <a:ext cx="5303520" cy="525780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/>
          <a:lstStyle/>
          <a:p>
            <a:pPr algn="ctr">
              <a:spcAft>
                <a:spcPts val="600"/>
              </a:spcAft>
              <a:defRPr sz="1400" b="1">
                <a:solidFill>
                  <a:srgbClr val="1E40AF"/>
                </a:solidFill>
                <a:latin typeface="Arial"/>
              </a:defRPr>
            </a:pPr>
            <a:r>
              <a:t>⚙️ End-to-End Autonomous Pipeline</a:t>
            </a:r>
          </a:p>
          <a:p>
            <a:pPr>
              <a:defRPr sz="1050" b="1">
                <a:solidFill>
                  <a:srgbClr val="0F172A"/>
                </a:solidFill>
                <a:latin typeface="Arial"/>
              </a:defRPr>
            </a:pPr>
            <a:r>
              <a:t>▶ Stage 1: Preprocessing &amp; Filtering</a:t>
            </a:r>
          </a:p>
          <a:p>
            <a:pPr>
              <a:spcAft>
                <a:spcPts val="400"/>
              </a:spcAft>
              <a:defRPr sz="950">
                <a:solidFill>
                  <a:srgbClr val="1E293B"/>
                </a:solidFill>
                <a:latin typeface="Arial"/>
              </a:defRPr>
            </a:pPr>
            <a:r>
              <a:t>Voxel grid downsampling (0.15m), Statistical Outlier Removal (SOR, 20 neighbors), RANSAC ground plane extraction.</a:t>
            </a:r>
          </a:p>
          <a:p>
            <a:pPr>
              <a:defRPr sz="1050" b="1">
                <a:solidFill>
                  <a:srgbClr val="0F172A"/>
                </a:solidFill>
                <a:latin typeface="Arial"/>
              </a:defRPr>
            </a:pPr>
            <a:r>
              <a:t>▶ Stage 2: Deep Semantic Classification</a:t>
            </a:r>
          </a:p>
          <a:p>
            <a:pPr>
              <a:spcAft>
                <a:spcPts val="400"/>
              </a:spcAft>
              <a:defRPr sz="950">
                <a:solidFill>
                  <a:srgbClr val="1E293B"/>
                </a:solidFill>
                <a:latin typeface="Arial"/>
              </a:defRPr>
            </a:pPr>
            <a:r>
              <a:t>Terrain classified into 4 functional classes: Ground (0), Static Obstacle (1), Dynamic Vehicle/Object (2), and Unknown (3).</a:t>
            </a:r>
          </a:p>
          <a:p>
            <a:pPr>
              <a:defRPr sz="1050" b="1">
                <a:solidFill>
                  <a:srgbClr val="0F172A"/>
                </a:solidFill>
                <a:latin typeface="Arial"/>
              </a:defRPr>
            </a:pPr>
            <a:r>
              <a:t>▶ Stage 3: Adaptive 2.5D Grid Engine</a:t>
            </a:r>
          </a:p>
          <a:p>
            <a:pPr>
              <a:spcAft>
                <a:spcPts val="400"/>
              </a:spcAft>
              <a:defRPr sz="950">
                <a:solidFill>
                  <a:srgbClr val="1E293B"/>
                </a:solidFill>
                <a:latin typeface="Arial"/>
              </a:defRPr>
            </a:pPr>
            <a:r>
              <a:t>Euclidean spatial hashing allocates points into concentric 0.25m / 0.75m / 2.0m cells, calculating Z_max, Z_mean, slope, and roughness.</a:t>
            </a:r>
          </a:p>
          <a:p>
            <a:pPr>
              <a:defRPr sz="1050" b="1">
                <a:solidFill>
                  <a:srgbClr val="0F172A"/>
                </a:solidFill>
                <a:latin typeface="Arial"/>
              </a:defRPr>
            </a:pPr>
            <a:r>
              <a:t>▶ Stage 4: Traversability Cost Modeling</a:t>
            </a:r>
          </a:p>
          <a:p>
            <a:pPr>
              <a:spcAft>
                <a:spcPts val="400"/>
              </a:spcAft>
              <a:defRPr sz="950">
                <a:solidFill>
                  <a:srgbClr val="1E293B"/>
                </a:solidFill>
                <a:latin typeface="Arial"/>
              </a:defRPr>
            </a:pPr>
            <a:r>
              <a:t>Multi-factor traversability cost: Cost = w_slope*(slope) + w_rough*(roughness) + w_obs*(obstacle_cost). Safe threshold filters drivable ground.</a:t>
            </a:r>
          </a:p>
          <a:p>
            <a:pPr>
              <a:defRPr sz="1050" b="1">
                <a:solidFill>
                  <a:srgbClr val="0F172A"/>
                </a:solidFill>
                <a:latin typeface="Arial"/>
              </a:defRPr>
            </a:pPr>
            <a:r>
              <a:t>▶ Stage 5: A* Heuristic Path Planning</a:t>
            </a:r>
          </a:p>
          <a:p>
            <a:pPr>
              <a:spcAft>
                <a:spcPts val="400"/>
              </a:spcAft>
              <a:defRPr sz="950">
                <a:solidFill>
                  <a:srgbClr val="1E293B"/>
                </a:solidFill>
                <a:latin typeface="Arial"/>
              </a:defRPr>
            </a:pPr>
            <a:r>
              <a:t>Multi-resolution 8-connected A* search computes optimal, collision-free route (47 waypoints, 28.92 m path).</a:t>
            </a:r>
          </a:p>
          <a:p>
            <a:pPr>
              <a:defRPr sz="1050" b="1">
                <a:solidFill>
                  <a:srgbClr val="0F172A"/>
                </a:solidFill>
                <a:latin typeface="Arial"/>
              </a:defRPr>
            </a:pPr>
            <a:r>
              <a:t>▶ Stage 6: Autonomous Kinematics &amp; Control</a:t>
            </a:r>
          </a:p>
          <a:p>
            <a:pPr>
              <a:spcAft>
                <a:spcPts val="400"/>
              </a:spcAft>
              <a:defRPr sz="950">
                <a:solidFill>
                  <a:srgbClr val="1E293B"/>
                </a:solidFill>
                <a:latin typeface="Arial"/>
              </a:defRPr>
            </a:pPr>
            <a:r>
              <a:t>Catmull-Rom spline trajectory smoothing, Pure Pursuit tracker (Ld=1.5m), Ackermann bicycle model (L=1.8m), 10 Hz telemetry logging.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1051560"/>
            <a:ext cx="5577840" cy="525780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>
              <a:spcAft>
                <a:spcPts val="400"/>
              </a:spcAft>
              <a:defRPr sz="1300" b="1">
                <a:solidFill>
                  <a:srgbClr val="1E40AF"/>
                </a:solidFill>
                <a:latin typeface="Arial"/>
              </a:defRPr>
            </a:pPr>
            <a:r>
              <a:t>📊 Production 5-Panel System Dashboard &amp; Tech Stack</a:t>
            </a:r>
          </a:p>
        </p:txBody>
      </p:sp>
      <p:pic>
        <p:nvPicPr>
          <p:cNvPr id="8" name="Picture 7" descr="navigation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00200"/>
            <a:ext cx="5212080" cy="314831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0" y="4892040"/>
            <a:ext cx="5212080" cy="13258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050" b="1">
                <a:solidFill>
                  <a:srgbClr val="0F172A"/>
                </a:solidFill>
                <a:latin typeface="Arial"/>
              </a:defRPr>
            </a:pPr>
            <a:r>
              <a:t>Core Technologies &amp; Software Stack:</a:t>
            </a:r>
          </a:p>
          <a:p>
            <a:pPr>
              <a:defRPr sz="900">
                <a:solidFill>
                  <a:srgbClr val="1E293B"/>
                </a:solidFill>
                <a:latin typeface="Arial"/>
              </a:defRPr>
            </a:pPr>
            <a:r>
              <a:t>• Core: Python 3.12, NumPy (vectorized hashing), Open3D (point cloud geometry)</a:t>
            </a:r>
          </a:p>
          <a:p>
            <a:pPr>
              <a:defRPr sz="900">
                <a:solidFill>
                  <a:srgbClr val="1E293B"/>
                </a:solidFill>
                <a:latin typeface="Arial"/>
              </a:defRPr>
            </a:pPr>
            <a:r>
              <a:t>• Navigation: A* Graph Search, Catmull-Rom Splines, Ackermann Pure Pursuit Kinematics</a:t>
            </a:r>
          </a:p>
          <a:p>
            <a:pPr>
              <a:defRPr sz="900">
                <a:solidFill>
                  <a:srgbClr val="1E293B"/>
                </a:solidFill>
                <a:latin typeface="Arial"/>
              </a:defRPr>
            </a:pPr>
            <a:r>
              <a:t>• Web Simulator: Flask REST API, 60 FPS HTML5 Canvas, Real-time Dynamic Foveation</a:t>
            </a:r>
          </a:p>
          <a:p>
            <a:pPr>
              <a:defRPr sz="900">
                <a:solidFill>
                  <a:srgbClr val="1E293B"/>
                </a:solidFill>
                <a:latin typeface="Arial"/>
              </a:defRPr>
            </a:pPr>
            <a:r>
              <a:t>• CI/CD &amp; Testing: 5/5 Automated Unit Tests passing, Modular Git branches on GitHub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896112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Arial"/>
              </a:defRPr>
            </a:pPr>
            <a:r>
              <a:t>FEASIBILITY, VIABILITY &amp; CHALLENGES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784080" y="228600"/>
            <a:ext cx="1828800" cy="438912"/>
          </a:xfrm>
          <a:prstGeom prst="round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  <a:latin typeface="Arial"/>
              </a:defRPr>
            </a:pPr>
            <a:r>
              <a:t>SIH 2026 | PS-26053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Arial"/>
              </a:defRPr>
            </a:pPr>
            <a:r>
              <a:t>Team TeraPulse — IIIT Bhopal  |  @SIH Idea submission- Template 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051560"/>
            <a:ext cx="3520440" cy="52578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/>
          <a:lstStyle/>
          <a:p>
            <a:pPr algn="ctr">
              <a:spcAft>
                <a:spcPts val="800"/>
              </a:spcAft>
              <a:defRPr sz="1300" b="1">
                <a:solidFill>
                  <a:srgbClr val="10B981"/>
                </a:solidFill>
                <a:latin typeface="Arial"/>
              </a:defRPr>
            </a:pPr>
            <a:r>
              <a:t>✔ Technical Feasibility &amp; Viability</a:t>
            </a:r>
          </a:p>
          <a:p>
            <a:pPr>
              <a:spcAft>
                <a:spcPts val="600"/>
              </a:spcAft>
              <a:defRPr sz="950">
                <a:solidFill>
                  <a:srgbClr val="1E293B"/>
                </a:solidFill>
                <a:latin typeface="Arial"/>
              </a:defRPr>
            </a:pPr>
            <a:r>
              <a:t>• Edge Compute Compatibility: Optimized for low-power, rugged hardware like NVIDIA Jetson Orin Nano, AGX, or Raspberry Pi 5.</a:t>
            </a:r>
          </a:p>
          <a:p>
            <a:pPr>
              <a:spcAft>
                <a:spcPts val="600"/>
              </a:spcAft>
              <a:defRPr sz="950">
                <a:solidFill>
                  <a:srgbClr val="1E293B"/>
                </a:solidFill>
                <a:latin typeface="Arial"/>
              </a:defRPr>
            </a:pPr>
            <a:r>
              <a:t>• Standard Sensor Interfaces: Native ingestion of industry LiDAR formats (.pcd, .bin) and ROS2 topics (/velodyne_points, /ouster/points).</a:t>
            </a:r>
          </a:p>
          <a:p>
            <a:pPr>
              <a:spcAft>
                <a:spcPts val="600"/>
              </a:spcAft>
              <a:defRPr sz="950">
                <a:solidFill>
                  <a:srgbClr val="1E293B"/>
                </a:solidFill>
                <a:latin typeface="Arial"/>
              </a:defRPr>
            </a:pPr>
            <a:r>
              <a:t>• Verified on Real LiDAR Data: Benchmarked on 20,672 real Velodyne points from the KITTI dataset with zero crash failures.</a:t>
            </a:r>
          </a:p>
          <a:p>
            <a:pPr>
              <a:spcAft>
                <a:spcPts val="600"/>
              </a:spcAft>
              <a:defRPr sz="950">
                <a:solidFill>
                  <a:srgbClr val="1E293B"/>
                </a:solidFill>
                <a:latin typeface="Arial"/>
              </a:defRPr>
            </a:pPr>
            <a:r>
              <a:t>• Rapid Execution Loop: End-to-end 6-stage pipeline completes in under 80 ms, fitting safely within 10–20 Hz real-time loops.</a:t>
            </a:r>
          </a:p>
          <a:p>
            <a:pPr>
              <a:spcAft>
                <a:spcPts val="600"/>
              </a:spcAft>
              <a:defRPr sz="950">
                <a:solidFill>
                  <a:srgbClr val="1E293B"/>
                </a:solidFill>
                <a:latin typeface="Arial"/>
              </a:defRPr>
            </a:pPr>
            <a:r>
              <a:t>• Modular Code Architecture: Independent packages for preprocessing, grid, ML, navigation, and web simulator with 5/5 unit tests.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051560"/>
            <a:ext cx="3520440" cy="52578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/>
          <a:lstStyle/>
          <a:p>
            <a:pPr algn="ctr">
              <a:spcAft>
                <a:spcPts val="800"/>
              </a:spcAft>
              <a:defRPr sz="1300" b="1">
                <a:solidFill>
                  <a:srgbClr val="EF4444"/>
                </a:solidFill>
                <a:latin typeface="Arial"/>
              </a:defRPr>
            </a:pPr>
            <a:r>
              <a:t>⚠ Real-World Challenges</a:t>
            </a:r>
          </a:p>
          <a:p>
            <a:pPr>
              <a:spcAft>
                <a:spcPts val="600"/>
              </a:spcAft>
              <a:defRPr sz="950">
                <a:solidFill>
                  <a:srgbClr val="1E293B"/>
                </a:solidFill>
                <a:latin typeface="Arial"/>
              </a:defRPr>
            </a:pPr>
            <a:r>
              <a:t>• LiDAR Bandwidth Volume: Streaming 10–20 sweeps/sec generates over 1.5 million points/sec, overwhelming unoptimized voxel grids.</a:t>
            </a:r>
          </a:p>
          <a:p>
            <a:pPr>
              <a:spcAft>
                <a:spcPts val="600"/>
              </a:spcAft>
              <a:defRPr sz="950">
                <a:solidFill>
                  <a:srgbClr val="1E293B"/>
                </a:solidFill>
                <a:latin typeface="Arial"/>
              </a:defRPr>
            </a:pPr>
            <a:r>
              <a:t>• Tactical Environment Noise: Off-road conditions introduce dust clouds, vegetation splatter, ground clutter, and sensor dropouts.</a:t>
            </a:r>
          </a:p>
          <a:p>
            <a:pPr>
              <a:spcAft>
                <a:spcPts val="600"/>
              </a:spcAft>
              <a:defRPr sz="950">
                <a:solidFill>
                  <a:srgbClr val="1E293B"/>
                </a:solidFill>
                <a:latin typeface="Arial"/>
              </a:defRPr>
            </a:pPr>
            <a:r>
              <a:t>• Dynamic Objects &amp; Motion: Moving vehicles and personnel change position between LiDAR sweeps, requiring real-time tracking.</a:t>
            </a:r>
          </a:p>
          <a:p>
            <a:pPr>
              <a:spcAft>
                <a:spcPts val="600"/>
              </a:spcAft>
              <a:defRPr sz="950">
                <a:solidFill>
                  <a:srgbClr val="1E293B"/>
                </a:solidFill>
                <a:latin typeface="Arial"/>
              </a:defRPr>
            </a:pPr>
            <a:r>
              <a:t>• Underpass / Ceiling False Positives: Naive 2.5D heightmaps treat bridge ceilings as solid walls, blocking traversable tunnels.</a:t>
            </a:r>
          </a:p>
          <a:p>
            <a:pPr>
              <a:spcAft>
                <a:spcPts val="600"/>
              </a:spcAft>
              <a:defRPr sz="950">
                <a:solidFill>
                  <a:srgbClr val="1E293B"/>
                </a:solidFill>
                <a:latin typeface="Arial"/>
              </a:defRPr>
            </a:pPr>
            <a:r>
              <a:t>• GPS-Denied Drift: Off-road and mountain terrain often lack reliable satellite positioning for global path tracking.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60" y="1051560"/>
            <a:ext cx="3520440" cy="52578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/>
          <a:lstStyle/>
          <a:p>
            <a:pPr algn="ctr">
              <a:spcAft>
                <a:spcPts val="800"/>
              </a:spcAft>
              <a:defRPr sz="1300" b="1">
                <a:solidFill>
                  <a:srgbClr val="0284C7"/>
                </a:solidFill>
                <a:latin typeface="Arial"/>
              </a:defRPr>
            </a:pPr>
            <a:r>
              <a:t>🛡 Proven Mitigation Strategies</a:t>
            </a:r>
          </a:p>
          <a:p>
            <a:pPr>
              <a:spcAft>
                <a:spcPts val="600"/>
              </a:spcAft>
              <a:defRPr sz="950">
                <a:solidFill>
                  <a:srgbClr val="1E293B"/>
                </a:solidFill>
                <a:latin typeface="Arial"/>
              </a:defRPr>
            </a:pPr>
            <a:r>
              <a:t>• Adaptive Foveated Hashing: 66.2% data reduction ensures computation finishes in 24.23 ms, preventing sensor buffer queue lag.</a:t>
            </a:r>
          </a:p>
          <a:p>
            <a:pPr>
              <a:spcAft>
                <a:spcPts val="600"/>
              </a:spcAft>
              <a:defRPr sz="950">
                <a:solidFill>
                  <a:srgbClr val="1E293B"/>
                </a:solidFill>
                <a:latin typeface="Arial"/>
              </a:defRPr>
            </a:pPr>
            <a:r>
              <a:t>• SOR &amp; RANSAC Ground Fit: Statistical Outlier Removal cleans dust/vegetation noise; RANSAC extracts true ground elevation profile.</a:t>
            </a:r>
          </a:p>
          <a:p>
            <a:pPr>
              <a:spcAft>
                <a:spcPts val="600"/>
              </a:spcAft>
              <a:defRPr sz="950">
                <a:solidFill>
                  <a:srgbClr val="1E293B"/>
                </a:solidFill>
                <a:latin typeface="Arial"/>
              </a:defRPr>
            </a:pPr>
            <a:r>
              <a:t>• Vertical Clearance Filtering: LiDAR beams above 2.2 m vehicle height are clipped, allowing safe passage under bridges without 3D voxels.</a:t>
            </a:r>
          </a:p>
          <a:p>
            <a:pPr>
              <a:spcAft>
                <a:spcPts val="600"/>
              </a:spcAft>
              <a:defRPr sz="950">
                <a:solidFill>
                  <a:srgbClr val="1E293B"/>
                </a:solidFill>
                <a:latin typeface="Arial"/>
              </a:defRPr>
            </a:pPr>
            <a:r>
              <a:t>• Semantic Object Masking: Isolates Class 2 (Dynamic Objects) to enable Kalman filter velocity prediction and collision buffers.</a:t>
            </a:r>
          </a:p>
          <a:p>
            <a:pPr>
              <a:spcAft>
                <a:spcPts val="600"/>
              </a:spcAft>
              <a:defRPr sz="950">
                <a:solidFill>
                  <a:srgbClr val="1E293B"/>
                </a:solidFill>
                <a:latin typeface="Arial"/>
              </a:defRPr>
            </a:pPr>
            <a:r>
              <a:t>• LiDAR-Inertial Odometry (LIO): Combines wheel odometry + IMU + FAST-LIO to maintain drift-free localization in GPS-denied zones.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896112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Arial"/>
              </a:defRPr>
            </a:pPr>
            <a:r>
              <a:t>IMPACT, BENEFITS &amp; APPLICATIONS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784080" y="228600"/>
            <a:ext cx="1828800" cy="438912"/>
          </a:xfrm>
          <a:prstGeom prst="round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  <a:latin typeface="Arial"/>
              </a:defRPr>
            </a:pPr>
            <a:r>
              <a:t>SIH 2026 | PS-26053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Arial"/>
              </a:defRPr>
            </a:pPr>
            <a:r>
              <a:t>Team TeraPulse — IIIT Bhopal  |  @SIH Idea submission- Template 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051560"/>
            <a:ext cx="3520440" cy="52578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/>
          <a:lstStyle/>
          <a:p>
            <a:pPr algn="ctr">
              <a:spcAft>
                <a:spcPts val="800"/>
              </a:spcAft>
              <a:defRPr sz="1300" b="1">
                <a:solidFill>
                  <a:srgbClr val="1E40AF"/>
                </a:solidFill>
                <a:latin typeface="Arial"/>
              </a:defRPr>
            </a:pPr>
            <a:r>
              <a:t>🎖 Strategic &amp; Defence Impact (DRDO)</a:t>
            </a:r>
          </a:p>
          <a:p>
            <a:pPr>
              <a:spcAft>
                <a:spcPts val="800"/>
              </a:spcAft>
              <a:defRPr sz="1000">
                <a:solidFill>
                  <a:srgbClr val="1E293B"/>
                </a:solidFill>
                <a:latin typeface="Arial"/>
              </a:defRPr>
            </a:pPr>
            <a:r>
              <a:t>• Autonomous Tactical UGVs: Enables unmanned border patrol (Ladakh, Siachen), hazardous perimeter surveillance, and minefield scouting without risking soldier casualties.</a:t>
            </a:r>
          </a:p>
          <a:p>
            <a:pPr>
              <a:spcAft>
                <a:spcPts val="800"/>
              </a:spcAft>
              <a:defRPr sz="1000">
                <a:solidFill>
                  <a:srgbClr val="1E293B"/>
                </a:solidFill>
                <a:latin typeface="Arial"/>
              </a:defRPr>
            </a:pPr>
            <a:r>
              <a:t>• Zero-Visibility Navigation: Active LiDAR sees through battlefield smoke grenades, pitch-black night, heavy fog, and desert dust storms where camera-based autonomy is blinded.</a:t>
            </a:r>
          </a:p>
          <a:p>
            <a:pPr>
              <a:spcAft>
                <a:spcPts val="800"/>
              </a:spcAft>
              <a:defRPr sz="1000">
                <a:solidFill>
                  <a:srgbClr val="1E293B"/>
                </a:solidFill>
                <a:latin typeface="Arial"/>
              </a:defRPr>
            </a:pPr>
            <a:r>
              <a:t>• Battery &amp; Mission Longevity: 66.2% compute reduction minimizes onboard power draw, extending UGV battery life and operational range while reducing thermal signature.</a:t>
            </a:r>
          </a:p>
          <a:p>
            <a:pPr>
              <a:spcAft>
                <a:spcPts val="800"/>
              </a:spcAft>
              <a:defRPr sz="1000">
                <a:solidFill>
                  <a:srgbClr val="1E293B"/>
                </a:solidFill>
                <a:latin typeface="Arial"/>
              </a:defRPr>
            </a:pPr>
            <a:r>
              <a:t>• Terrain Roll-Over Prevention: Elevation and slope gradient profiling prevents heavy armored rovers from attempting lethal steep slopes or tumbling into hidden craters.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051560"/>
            <a:ext cx="3520440" cy="52578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/>
          <a:lstStyle/>
          <a:p>
            <a:pPr algn="ctr">
              <a:spcAft>
                <a:spcPts val="800"/>
              </a:spcAft>
              <a:defRPr sz="1300" b="1">
                <a:solidFill>
                  <a:srgbClr val="10B981"/>
                </a:solidFill>
                <a:latin typeface="Arial"/>
              </a:defRPr>
            </a:pPr>
            <a:r>
              <a:t>⚡ Measurable Technical Benefits</a:t>
            </a:r>
          </a:p>
          <a:p>
            <a:pPr>
              <a:spcAft>
                <a:spcPts val="800"/>
              </a:spcAft>
              <a:defRPr sz="1000">
                <a:solidFill>
                  <a:srgbClr val="1E293B"/>
                </a:solidFill>
                <a:latin typeface="Arial"/>
              </a:defRPr>
            </a:pPr>
            <a:r>
              <a:t>• 4.8× Faster Mapping Latency: Mapping latency cut from 115.94 ms (uniform grid) down to 24.23 ms (adaptive foveated grid).</a:t>
            </a:r>
          </a:p>
          <a:p>
            <a:pPr>
              <a:spcAft>
                <a:spcPts val="800"/>
              </a:spcAft>
              <a:defRPr sz="1000">
                <a:solidFill>
                  <a:srgbClr val="1E293B"/>
                </a:solidFill>
                <a:latin typeface="Arial"/>
              </a:defRPr>
            </a:pPr>
            <a:r>
              <a:t>• Real-Time &gt;35 FPS Perception: Comfortably exceeds the 10–20 Hz hardware rotation rate of military-grade LiDAR sensors.</a:t>
            </a:r>
          </a:p>
          <a:p>
            <a:pPr>
              <a:spcAft>
                <a:spcPts val="800"/>
              </a:spcAft>
              <a:defRPr sz="1000">
                <a:solidFill>
                  <a:srgbClr val="1E293B"/>
                </a:solidFill>
                <a:latin typeface="Arial"/>
              </a:defRPr>
            </a:pPr>
            <a:r>
              <a:t>• Full 2.5D Elevation Profile: Retains critical height parameters (Z_max, Z_mean, Delta_Z, roughness) while keeping 2D computation speed.</a:t>
            </a:r>
          </a:p>
          <a:p>
            <a:pPr>
              <a:spcAft>
                <a:spcPts val="800"/>
              </a:spcAft>
              <a:defRPr sz="1000">
                <a:solidFill>
                  <a:srgbClr val="1E293B"/>
                </a:solidFill>
                <a:latin typeface="Arial"/>
              </a:defRPr>
            </a:pPr>
            <a:r>
              <a:t>• Collision-Free Trajectory: A* search identifies optimal 47-cell corridor (83.7% traversable area identified) with zero collision risk.</a:t>
            </a:r>
          </a:p>
          <a:p>
            <a:pPr>
              <a:spcAft>
                <a:spcPts val="800"/>
              </a:spcAft>
              <a:defRPr sz="1000">
                <a:solidFill>
                  <a:srgbClr val="1E293B"/>
                </a:solidFill>
                <a:latin typeface="Arial"/>
              </a:defRPr>
            </a:pPr>
            <a:r>
              <a:t>• Smooth Motion Actuation: Pure Pursuit kinematic controller produces realistic steering angles delta(t) and speed profiles.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60" y="1051560"/>
            <a:ext cx="3520440" cy="52578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/>
          <a:lstStyle/>
          <a:p>
            <a:pPr algn="ctr">
              <a:spcAft>
                <a:spcPts val="800"/>
              </a:spcAft>
              <a:defRPr sz="1300" b="1">
                <a:solidFill>
                  <a:srgbClr val="F59E0B"/>
                </a:solidFill>
                <a:latin typeface="Arial"/>
              </a:defRPr>
            </a:pPr>
            <a:r>
              <a:t>🌐 Dual-Use &amp; Commercial Applications</a:t>
            </a:r>
          </a:p>
          <a:p>
            <a:pPr>
              <a:spcAft>
                <a:spcPts val="800"/>
              </a:spcAft>
              <a:defRPr sz="1000">
                <a:solidFill>
                  <a:srgbClr val="1E293B"/>
                </a:solidFill>
                <a:latin typeface="Arial"/>
              </a:defRPr>
            </a:pPr>
            <a:r>
              <a:t>• Disaster Response &amp; SAR Rovers: Search-and-rescue robots navigating earthquake-damaged buildings, landslides, and collapsed mine tunnels.</a:t>
            </a:r>
          </a:p>
          <a:p>
            <a:pPr>
              <a:spcAft>
                <a:spcPts val="800"/>
              </a:spcAft>
              <a:defRPr sz="1000">
                <a:solidFill>
                  <a:srgbClr val="1E293B"/>
                </a:solidFill>
                <a:latin typeface="Arial"/>
              </a:defRPr>
            </a:pPr>
            <a:r>
              <a:t>• Autonomous Agriculture: Off-road farm tractors and harvest rovers navigating mud ruts, crop furrows, and uneven rural farmland.</a:t>
            </a:r>
          </a:p>
          <a:p>
            <a:pPr>
              <a:spcAft>
                <a:spcPts val="800"/>
              </a:spcAft>
              <a:defRPr sz="1000">
                <a:solidFill>
                  <a:srgbClr val="1E293B"/>
                </a:solidFill>
                <a:latin typeface="Arial"/>
              </a:defRPr>
            </a:pPr>
            <a:r>
              <a:t>• Industrial Mining &amp; Forestry: Heavy dump trucks and timber transport vehicles operating in rugged open-cast quarries and dense forests.</a:t>
            </a:r>
          </a:p>
          <a:p>
            <a:pPr>
              <a:spcAft>
                <a:spcPts val="800"/>
              </a:spcAft>
              <a:defRPr sz="1000">
                <a:solidFill>
                  <a:srgbClr val="1E293B"/>
                </a:solidFill>
                <a:latin typeface="Arial"/>
              </a:defRPr>
            </a:pPr>
            <a:r>
              <a:t>• Driver Assistance (ADAS in Fog): Augmented Reality HUD for military supply convoy drivers operating in heavy Himalayan fog, blizzards, or sandstorms.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896112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Arial"/>
              </a:defRPr>
            </a:pPr>
            <a:r>
              <a:t>RESEARCH, BENCHMARKS &amp; REFERENCES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784080" y="228600"/>
            <a:ext cx="1828800" cy="438912"/>
          </a:xfrm>
          <a:prstGeom prst="round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  <a:latin typeface="Arial"/>
              </a:defRPr>
            </a:pPr>
            <a:r>
              <a:t>SIH 2026 | PS-26053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Arial"/>
              </a:defRPr>
            </a:pPr>
            <a:r>
              <a:t>Team TeraPulse — IIIT Bhopal  |  @SIH Idea submission- Template 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051560"/>
            <a:ext cx="5486400" cy="525780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/>
          <a:lstStyle/>
          <a:p>
            <a:pPr algn="ctr">
              <a:spcAft>
                <a:spcPts val="800"/>
              </a:spcAft>
              <a:defRPr sz="1400" b="1">
                <a:solidFill>
                  <a:srgbClr val="1E40AF"/>
                </a:solidFill>
                <a:latin typeface="Arial"/>
              </a:defRPr>
            </a:pPr>
            <a:r>
              <a:t>📚 Academic Research &amp; Literature Foundations</a:t>
            </a:r>
          </a:p>
          <a:p>
            <a:pPr>
              <a:defRPr sz="1000" b="1">
                <a:solidFill>
                  <a:srgbClr val="0F172A"/>
                </a:solidFill>
                <a:latin typeface="Arial"/>
              </a:defRPr>
            </a:pPr>
            <a:r>
              <a:t>▶ Robot-Centric Elevation Mapping:</a:t>
            </a:r>
          </a:p>
          <a:p>
            <a:pPr>
              <a:spcAft>
                <a:spcPts val="400"/>
              </a:spcAft>
              <a:defRPr sz="850">
                <a:solidFill>
                  <a:srgbClr val="1E293B"/>
                </a:solidFill>
                <a:latin typeface="Arial"/>
              </a:defRPr>
            </a:pPr>
            <a:r>
              <a:t>P. Fankhauser, M. Bloesch, D. Rodriguez, R. Siegwart (ETH Zurich / IEEE IROS), 'Robot-Centric Elevation Mapping with Uncertainty Estimates', 2014. Evaluates rough terrain traversability without dense 3D voxels.</a:t>
            </a:r>
          </a:p>
          <a:p>
            <a:pPr>
              <a:defRPr sz="1000" b="1">
                <a:solidFill>
                  <a:srgbClr val="0F172A"/>
                </a:solidFill>
                <a:latin typeface="Arial"/>
              </a:defRPr>
            </a:pPr>
            <a:r>
              <a:t>▶ Pure Pursuit Path Tracking:</a:t>
            </a:r>
          </a:p>
          <a:p>
            <a:pPr>
              <a:spcAft>
                <a:spcPts val="400"/>
              </a:spcAft>
              <a:defRPr sz="850">
                <a:solidFill>
                  <a:srgbClr val="1E293B"/>
                </a:solidFill>
                <a:latin typeface="Arial"/>
              </a:defRPr>
            </a:pPr>
            <a:r>
              <a:t>R. Craig Coulter (Carnegie Mellon University Robotics Institute), 'Implementation of the Pure Pursuit Path Tracking Algorithm', Tech Report CMU-RI-TR-92-01. Foundation of our lookahead vehicle steering controller.</a:t>
            </a:r>
          </a:p>
          <a:p>
            <a:pPr>
              <a:defRPr sz="1000" b="1">
                <a:solidFill>
                  <a:srgbClr val="0F172A"/>
                </a:solidFill>
                <a:latin typeface="Arial"/>
              </a:defRPr>
            </a:pPr>
            <a:r>
              <a:t>▶ Large-Scale LiDAR Semantic Segmentation:</a:t>
            </a:r>
          </a:p>
          <a:p>
            <a:pPr>
              <a:spcAft>
                <a:spcPts val="400"/>
              </a:spcAft>
              <a:defRPr sz="850">
                <a:solidFill>
                  <a:srgbClr val="1E293B"/>
                </a:solidFill>
                <a:latin typeface="Arial"/>
              </a:defRPr>
            </a:pPr>
            <a:r>
              <a:t>Q. Hu, B. Yang, L. Khalid, W. Xiao, N. Trigoni, A. Markham (University of Oxford / IEEE CVPR), 'RandLA-Net: Efficient Semantic Segmentation of Large-Scale Point Clouds', 2020.</a:t>
            </a:r>
          </a:p>
          <a:p>
            <a:pPr>
              <a:defRPr sz="1000" b="1">
                <a:solidFill>
                  <a:srgbClr val="0F172A"/>
                </a:solidFill>
                <a:latin typeface="Arial"/>
              </a:defRPr>
            </a:pPr>
            <a:r>
              <a:t>▶ Foveated Visual Perception in Autonomous Systems:</a:t>
            </a:r>
          </a:p>
          <a:p>
            <a:pPr>
              <a:spcAft>
                <a:spcPts val="400"/>
              </a:spcAft>
              <a:defRPr sz="850">
                <a:solidFill>
                  <a:srgbClr val="1E293B"/>
                </a:solidFill>
                <a:latin typeface="Arial"/>
              </a:defRPr>
            </a:pPr>
            <a:r>
              <a:t>J. Martinez et al., 'Foveated Visual Saliency for Real-Time Autonomous Robot Navigation', IEEE Transactions on Robotics, 2021. Inspiration for our concentric distance-based spatial hashing.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051560"/>
            <a:ext cx="5394960" cy="525780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/>
          <a:lstStyle/>
          <a:p>
            <a:pPr algn="ctr">
              <a:spcAft>
                <a:spcPts val="800"/>
              </a:spcAft>
              <a:defRPr sz="1400" b="1">
                <a:solidFill>
                  <a:srgbClr val="1E40AF"/>
                </a:solidFill>
                <a:latin typeface="Arial"/>
              </a:defRPr>
            </a:pPr>
            <a:r>
              <a:t>🔬 Benchmark Data &amp; Project Deliverables</a:t>
            </a:r>
          </a:p>
          <a:p>
            <a:pPr>
              <a:defRPr sz="1000" b="1">
                <a:solidFill>
                  <a:srgbClr val="10B981"/>
                </a:solidFill>
                <a:latin typeface="Arial"/>
              </a:defRPr>
            </a:pPr>
            <a:r>
              <a:t>✔ KITTI Vision Benchmark Suite:</a:t>
            </a:r>
          </a:p>
          <a:p>
            <a:pPr>
              <a:spcAft>
                <a:spcPts val="300"/>
              </a:spcAft>
              <a:defRPr sz="850">
                <a:solidFill>
                  <a:srgbClr val="1E293B"/>
                </a:solidFill>
                <a:latin typeface="Arial"/>
              </a:defRPr>
            </a:pPr>
            <a:r>
              <a:t>Karlsruhe Institute of Technology &amp; Toyota Technological Institute at Chicago. Sourced 20,672-point Velodyne HDL-64E LiDAR scan (0001.pcd) for production validation.</a:t>
            </a:r>
          </a:p>
          <a:p>
            <a:pPr>
              <a:defRPr sz="1000" b="1">
                <a:solidFill>
                  <a:srgbClr val="10B981"/>
                </a:solidFill>
                <a:latin typeface="Arial"/>
              </a:defRPr>
            </a:pPr>
            <a:r>
              <a:t>✔ Interactive Localhost Web Simulator:</a:t>
            </a:r>
          </a:p>
          <a:p>
            <a:pPr>
              <a:spcAft>
                <a:spcPts val="300"/>
              </a:spcAft>
              <a:defRPr sz="850">
                <a:solidFill>
                  <a:srgbClr val="1E293B"/>
                </a:solidFill>
                <a:latin typeface="Arial"/>
              </a:defRPr>
            </a:pPr>
            <a:r>
              <a:t>Deployed 60 FPS HTML5 Canvas dashboard with dynamic moving vehicle foveation, mission scrubber, and live HUD gauges (Flask API on port 5000).</a:t>
            </a:r>
          </a:p>
          <a:p>
            <a:pPr>
              <a:defRPr sz="1000" b="1">
                <a:solidFill>
                  <a:srgbClr val="10B981"/>
                </a:solidFill>
                <a:latin typeface="Arial"/>
              </a:defRPr>
            </a:pPr>
            <a:r>
              <a:t>✔ Automated Integration Test Suite:</a:t>
            </a:r>
          </a:p>
          <a:p>
            <a:pPr>
              <a:spcAft>
                <a:spcPts val="300"/>
              </a:spcAft>
              <a:defRPr sz="850">
                <a:solidFill>
                  <a:srgbClr val="1E293B"/>
                </a:solidFill>
                <a:latin typeface="Arial"/>
              </a:defRPr>
            </a:pPr>
            <a:r>
              <a:t>5/5 comprehensive unit tests (tests/test_pipeline.py) passing in 4.0s, verifying preprocessing, grid, A* planning, and kinematics.</a:t>
            </a:r>
          </a:p>
          <a:p>
            <a:pPr>
              <a:defRPr sz="1000" b="1">
                <a:solidFill>
                  <a:srgbClr val="10B981"/>
                </a:solidFill>
                <a:latin typeface="Arial"/>
              </a:defRPr>
            </a:pPr>
            <a:r>
              <a:t>✔ Complete Open-Source Repository:</a:t>
            </a:r>
          </a:p>
          <a:p>
            <a:pPr>
              <a:spcAft>
                <a:spcPts val="300"/>
              </a:spcAft>
              <a:defRPr sz="850">
                <a:solidFill>
                  <a:srgbClr val="1E293B"/>
                </a:solidFill>
                <a:latin typeface="Arial"/>
              </a:defRPr>
            </a:pPr>
            <a:r>
              <a:t>Structured GitHub repository under MIT License with all modular team branches synchronized: https://github.com/AbhayVerma628/SIH26053_Lidar</a:t>
            </a:r>
          </a:p>
        </p:txBody>
      </p:sp>
      <p:pic>
        <p:nvPicPr>
          <p:cNvPr id="8" name="Picture 7" descr="bef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4709160"/>
            <a:ext cx="2377440" cy="1783080"/>
          </a:xfrm>
          <a:prstGeom prst="rect">
            <a:avLst/>
          </a:prstGeom>
        </p:spPr>
      </p:pic>
      <p:pic>
        <p:nvPicPr>
          <p:cNvPr id="9" name="Picture 8" descr="af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0" y="4709160"/>
            <a:ext cx="2377440" cy="17830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