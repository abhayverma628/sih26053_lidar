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2004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1E4082"/>
                </a:solidFill>
                <a:latin typeface="Arial"/>
              </a:defRPr>
            </a:pPr>
            <a:r>
              <a:t>SMART INDIA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11827"/>
                </a:solidFill>
                <a:latin typeface="Arial"/>
              </a:defRPr>
            </a:pPr>
            <a:r>
              <a:t>Adaptive Foveated 2.5D Semantic Mapping for</a:t>
            </a:r>
            <a:br/>
            <a:r>
              <a:t>Autonomous Navigation</a:t>
            </a:r>
          </a:p>
        </p:txBody>
      </p:sp>
      <p:pic>
        <p:nvPicPr>
          <p:cNvPr id="4" name="Picture 3" descr="page_1_1_I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82880"/>
            <a:ext cx="1463040" cy="6912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2286000"/>
            <a:ext cx="6858000" cy="4114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Arial"/>
              </a:defRPr>
            </a:pPr>
            <a:r>
              <a:t>•  Problem Statement ID – 26053</a:t>
            </a:r>
          </a:p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Arial"/>
              </a:defRPr>
            </a:pPr>
            <a:r>
              <a:t>•  Problem Statement Title – Adaptive Foveated 2.5D Semantic Mapping from LiDAR Point Clouds for Autonomous Navigation</a:t>
            </a:r>
          </a:p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Arial"/>
              </a:defRPr>
            </a:pPr>
            <a:r>
              <a:t>•  Theme – Smart Vehicles</a:t>
            </a:r>
          </a:p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Arial"/>
              </a:defRPr>
            </a:pPr>
            <a:r>
              <a:t>•  PS Category – Software</a:t>
            </a:r>
          </a:p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Arial"/>
              </a:defRPr>
            </a:pPr>
            <a:r>
              <a:t>•  Team ID – TBA</a:t>
            </a:r>
          </a:p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Arial"/>
              </a:defRPr>
            </a:pPr>
            <a:r>
              <a:t>•  Team Name – TeraPulse</a:t>
            </a:r>
          </a:p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Arial"/>
              </a:defRPr>
            </a:pPr>
            <a:r>
              <a:t>•  Team Members – Abhay Verma (Team Leader), Lokendra Singh,</a:t>
            </a:r>
            <a:br/>
            <a:r>
              <a:t>Yashvardhan Jain, Chetan Meena, Sachin Chaubey, Esha Verma</a:t>
            </a:r>
          </a:p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Arial"/>
              </a:defRPr>
            </a:pPr>
            <a:r>
              <a:t>•  Institute – Indian Institute of Information Technology Bhopal</a:t>
            </a:r>
          </a:p>
        </p:txBody>
      </p:sp>
      <p:pic>
        <p:nvPicPr>
          <p:cNvPr id="6" name="Picture 5" descr="page_1_0_Im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2103120"/>
            <a:ext cx="4389120" cy="469384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28600"/>
            <a:ext cx="12344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111827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20240" y="228600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100" b="1">
                <a:solidFill>
                  <a:srgbClr val="111827"/>
                </a:solidFill>
                <a:latin typeface="Arial"/>
              </a:defRPr>
            </a:pPr>
            <a:r>
              <a:t>Adaptive Foveated 2.5D Semantic Mapping</a:t>
            </a:r>
            <a:br/>
            <a:r>
              <a:t>for Autonomous Navigation</a:t>
            </a:r>
          </a:p>
        </p:txBody>
      </p:sp>
      <p:pic>
        <p:nvPicPr>
          <p:cNvPr id="4" name="Picture 3" descr="page_1_1_I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82880"/>
            <a:ext cx="1463040" cy="69129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5669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D4ED8"/>
                </a:solidFill>
                <a:latin typeface="Arial"/>
              </a:defRPr>
            </a:pPr>
            <a:r>
              <a:t>❖ Proposed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5669280" cy="24688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F2937"/>
                </a:solidFill>
                <a:latin typeface="Arial"/>
              </a:defRPr>
            </a:pPr>
            <a:r>
              <a:t>2.5D semantic elevation map generated from raw LiDAR point clouds.</a:t>
            </a:r>
          </a:p>
          <a:p>
            <a:pPr>
              <a:spcAft>
                <a:spcPts val="400"/>
              </a:spcAft>
              <a:defRPr sz="1150">
                <a:solidFill>
                  <a:srgbClr val="1F2937"/>
                </a:solidFill>
                <a:latin typeface="Arial"/>
              </a:defRPr>
            </a:pPr>
            <a:r>
              <a:t>High resolution near the vehicle (0.25 m) for critical near-field perception.</a:t>
            </a:r>
          </a:p>
          <a:p>
            <a:pPr>
              <a:spcAft>
                <a:spcPts val="400"/>
              </a:spcAft>
              <a:defRPr sz="1150">
                <a:solidFill>
                  <a:srgbClr val="1F2937"/>
                </a:solidFill>
                <a:latin typeface="Arial"/>
              </a:defRPr>
            </a:pPr>
            <a:r>
              <a:t>Lower resolution for distant regions (0.75 m &amp; 2.0 m) — cuts unnecessary computation.</a:t>
            </a:r>
          </a:p>
          <a:p>
            <a:pPr>
              <a:spcAft>
                <a:spcPts val="400"/>
              </a:spcAft>
              <a:defRPr sz="1150">
                <a:solidFill>
                  <a:srgbClr val="1F2937"/>
                </a:solidFill>
                <a:latin typeface="Arial"/>
              </a:defRPr>
            </a:pPr>
            <a:r>
              <a:t>Preserves height, terrain gradient &amp; obstacle boundaries without full 3D voxels.</a:t>
            </a:r>
          </a:p>
          <a:p>
            <a:pPr>
              <a:spcAft>
                <a:spcPts val="400"/>
              </a:spcAft>
              <a:defRPr sz="1150">
                <a:solidFill>
                  <a:srgbClr val="1F2937"/>
                </a:solidFill>
                <a:latin typeface="Arial"/>
              </a:defRPr>
            </a:pPr>
            <a:r>
              <a:t>Identifies drivable ground, static obstacles &amp; dynamic objects in real time.</a:t>
            </a:r>
          </a:p>
          <a:p>
            <a:pPr>
              <a:spcAft>
                <a:spcPts val="400"/>
              </a:spcAft>
              <a:defRPr sz="1150">
                <a:solidFill>
                  <a:srgbClr val="1F2937"/>
                </a:solidFill>
                <a:latin typeface="Arial"/>
              </a:defRPr>
            </a:pPr>
            <a:r>
              <a:t>Enables fast closed-loop environmental understanding for path planning.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5669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D4ED8"/>
                </a:solidFill>
                <a:latin typeface="Arial"/>
              </a:defRPr>
            </a:pPr>
            <a:r>
              <a:t>❖ Innovation &amp; Uniqueness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72000"/>
            <a:ext cx="5669280" cy="1737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600"/>
              </a:spcAft>
              <a:defRPr sz="1150" i="1">
                <a:solidFill>
                  <a:srgbClr val="1F2937"/>
                </a:solidFill>
                <a:latin typeface="Arial"/>
              </a:defRPr>
            </a:pPr>
            <a:r>
              <a:t>Foveated adaptive resolution focuses computational resources where they matter most, instead of processing the entire environment at the same resolution.</a:t>
            </a:r>
          </a:p>
          <a:p>
            <a:pPr>
              <a:defRPr sz="1150">
                <a:solidFill>
                  <a:srgbClr val="1F2937"/>
                </a:solidFill>
                <a:latin typeface="Arial"/>
              </a:defRPr>
            </a:pPr>
            <a:r>
              <a:t>• Slashing cell memory by 66.2% and processing time to 24.23 ms (&gt;35 FPS).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0" y="1645920"/>
            <a:ext cx="4389120" cy="4389120"/>
          </a:xfrm>
          <a:prstGeom prst="ellipse">
            <a:avLst/>
          </a:prstGeom>
          <a:solidFill>
            <a:srgbClr val="BEDCFA"/>
          </a:solidFill>
          <a:ln w="25400">
            <a:solidFill>
              <a:srgbClr val="64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955279" y="2743200"/>
            <a:ext cx="2194560" cy="2194560"/>
          </a:xfrm>
          <a:prstGeom prst="ellipse">
            <a:avLst/>
          </a:prstGeom>
          <a:solidFill>
            <a:srgbClr val="146EC8"/>
          </a:solidFill>
          <a:ln w="25400">
            <a:solidFill>
              <a:srgbClr val="0A5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23960" y="361188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188720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11827"/>
                </a:solidFill>
                <a:latin typeface="Arial"/>
              </a:defRPr>
            </a:pPr>
            <a:r>
              <a:t>Foveated 2.5D Semantic Elevation Map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0" y="5852160"/>
            <a:ext cx="320040" cy="228600"/>
          </a:xfrm>
          <a:prstGeom prst="rect">
            <a:avLst/>
          </a:prstGeom>
          <a:solidFill>
            <a:srgbClr val="146E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69480" y="5806440"/>
            <a:ext cx="438912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950">
                <a:solidFill>
                  <a:srgbClr val="1F2937"/>
                </a:solidFill>
              </a:defRPr>
            </a:pPr>
            <a:r>
              <a:t>High resolution near the vehicle (near-field: 0.25 m)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0" y="6172200"/>
            <a:ext cx="320040" cy="228600"/>
          </a:xfrm>
          <a:prstGeom prst="rect">
            <a:avLst/>
          </a:prstGeom>
          <a:solidFill>
            <a:srgbClr val="BEDC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80" y="6126480"/>
            <a:ext cx="438912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950">
                <a:solidFill>
                  <a:srgbClr val="1F2937"/>
                </a:solidFill>
              </a:defRPr>
            </a:pPr>
            <a:r>
              <a:t>Lower resolution for distant regions (far-field: 0.75m &amp; 2.0m)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28600"/>
            <a:ext cx="12344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111827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20240" y="228600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100" b="1">
                <a:solidFill>
                  <a:srgbClr val="111827"/>
                </a:solidFill>
                <a:latin typeface="Arial"/>
              </a:defRPr>
            </a:pPr>
            <a:r>
              <a:t>TECHNICAL APPROACH</a:t>
            </a:r>
          </a:p>
        </p:txBody>
      </p:sp>
      <p:pic>
        <p:nvPicPr>
          <p:cNvPr id="4" name="Picture 3" descr="page_1_1_I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82880"/>
            <a:ext cx="1463040" cy="69129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D4ED8"/>
                </a:solidFill>
                <a:latin typeface="Arial"/>
              </a:defRPr>
            </a:pPr>
            <a:r>
              <a:t>System Workflow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4206240" cy="502920"/>
          </a:xfrm>
          <a:prstGeom prst="roundRect">
            <a:avLst/>
          </a:prstGeom>
          <a:solidFill>
            <a:srgbClr val="146E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LiDAR Point Cloud</a:t>
            </a:r>
          </a:p>
        </p:txBody>
      </p:sp>
      <p:sp>
        <p:nvSpPr>
          <p:cNvPr id="8" name="Down Arrow 7"/>
          <p:cNvSpPr/>
          <p:nvPr/>
        </p:nvSpPr>
        <p:spPr>
          <a:xfrm>
            <a:off x="2514600" y="2221992"/>
            <a:ext cx="274320" cy="182880"/>
          </a:xfrm>
          <a:prstGeom prst="downArrow">
            <a:avLst/>
          </a:prstGeom>
          <a:solidFill>
            <a:srgbClr val="649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4206240" cy="502920"/>
          </a:xfrm>
          <a:prstGeom prst="roundRect">
            <a:avLst/>
          </a:prstGeom>
          <a:solidFill>
            <a:srgbClr val="146E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Preprocessing &amp; Noise Removal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514600" y="2999232"/>
            <a:ext cx="274320" cy="182880"/>
          </a:xfrm>
          <a:prstGeom prst="downArrow">
            <a:avLst/>
          </a:prstGeom>
          <a:solidFill>
            <a:srgbClr val="649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3246120"/>
            <a:ext cx="4206240" cy="502920"/>
          </a:xfrm>
          <a:prstGeom prst="roundRect">
            <a:avLst/>
          </a:prstGeom>
          <a:solidFill>
            <a:srgbClr val="146E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Semantic Understanding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514600" y="3776472"/>
            <a:ext cx="274320" cy="182880"/>
          </a:xfrm>
          <a:prstGeom prst="downArrow">
            <a:avLst/>
          </a:prstGeom>
          <a:solidFill>
            <a:srgbClr val="649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4023360"/>
            <a:ext cx="4206240" cy="502920"/>
          </a:xfrm>
          <a:prstGeom prst="roundRect">
            <a:avLst/>
          </a:prstGeom>
          <a:solidFill>
            <a:srgbClr val="146E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Foveated Adaptive Grid Generation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2514600" y="4553712"/>
            <a:ext cx="274320" cy="182880"/>
          </a:xfrm>
          <a:prstGeom prst="downArrow">
            <a:avLst/>
          </a:prstGeom>
          <a:solidFill>
            <a:srgbClr val="649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4800600"/>
            <a:ext cx="4206240" cy="502920"/>
          </a:xfrm>
          <a:prstGeom prst="roundRect">
            <a:avLst/>
          </a:prstGeom>
          <a:solidFill>
            <a:srgbClr val="146E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2.5D Semantic Elevation Map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2514600" y="5330952"/>
            <a:ext cx="274320" cy="182880"/>
          </a:xfrm>
          <a:prstGeom prst="downArrow">
            <a:avLst/>
          </a:prstGeom>
          <a:solidFill>
            <a:srgbClr val="649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5577840"/>
            <a:ext cx="4206240" cy="502920"/>
          </a:xfrm>
          <a:prstGeom prst="roundRect">
            <a:avLst/>
          </a:prstGeom>
          <a:solidFill>
            <a:srgbClr val="146E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Real-Time Visualization &amp; Navigation</a:t>
            </a:r>
          </a:p>
        </p:txBody>
      </p:sp>
      <p:pic>
        <p:nvPicPr>
          <p:cNvPr id="18" name="Picture 17" descr="navigation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1234440"/>
            <a:ext cx="6583680" cy="397681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120640" y="4663440"/>
            <a:ext cx="658368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300" b="1">
                <a:solidFill>
                  <a:srgbClr val="1D4ED8"/>
                </a:solidFill>
                <a:latin typeface="Arial"/>
              </a:defRPr>
            </a:pPr>
            <a:r>
              <a:t>Technologies &amp; Core Implementation: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5029200"/>
            <a:ext cx="658368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F2937"/>
                </a:solidFill>
                <a:latin typeface="Arial"/>
              </a:defRPr>
            </a:pPr>
            <a:r>
              <a:t>• Python 3.12, NumPy (vectorized hashing), Open3D (point cloud geometry)</a:t>
            </a:r>
          </a:p>
          <a:p>
            <a:pPr>
              <a:spcAft>
                <a:spcPts val="200"/>
              </a:spcAft>
              <a:defRPr sz="1050">
                <a:solidFill>
                  <a:srgbClr val="1F2937"/>
                </a:solidFill>
                <a:latin typeface="Arial"/>
              </a:defRPr>
            </a:pPr>
            <a:r>
              <a:t>• Deep Learning-Based Semantic Segmentation (Ground, Obstacles, Dynamic Vehicles)</a:t>
            </a:r>
          </a:p>
          <a:p>
            <a:pPr>
              <a:spcAft>
                <a:spcPts val="200"/>
              </a:spcAft>
              <a:defRPr sz="1050">
                <a:solidFill>
                  <a:srgbClr val="1F2937"/>
                </a:solidFill>
                <a:latin typeface="Arial"/>
              </a:defRPr>
            </a:pPr>
            <a:r>
              <a:t>• A* Graph Search &amp; Pure Pursuit Kinematics (Catmull-Rom splines, Ackermann model)</a:t>
            </a:r>
          </a:p>
          <a:p>
            <a:pPr>
              <a:spcAft>
                <a:spcPts val="200"/>
              </a:spcAft>
              <a:defRPr sz="1050">
                <a:solidFill>
                  <a:srgbClr val="1F2937"/>
                </a:solidFill>
                <a:latin typeface="Arial"/>
              </a:defRPr>
            </a:pPr>
            <a:r>
              <a:t>• Real-Time Web Dashboard (Flask REST API, 60 FPS Canvas with moving foveation bubble)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28600"/>
            <a:ext cx="12344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111827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20240" y="228600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100" b="1">
                <a:solidFill>
                  <a:srgbClr val="111827"/>
                </a:solidFill>
                <a:latin typeface="Arial"/>
              </a:defRPr>
            </a:pPr>
            <a:r>
              <a:t>FEASIBILITY AND VIABILITY</a:t>
            </a:r>
          </a:p>
        </p:txBody>
      </p:sp>
      <p:pic>
        <p:nvPicPr>
          <p:cNvPr id="4" name="Picture 3" descr="page_1_1_I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82880"/>
            <a:ext cx="1463040" cy="69129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2011680" cy="41148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FFFFF"/>
                </a:solidFill>
                <a:latin typeface="Arial"/>
              </a:defRPr>
            </a:pPr>
            <a:r>
              <a:t>Feasibility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530352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1F2937"/>
                </a:solidFill>
                <a:latin typeface="Arial"/>
              </a:defRPr>
            </a:pPr>
            <a:r>
              <a:t>• Uses widely available LiDAR point cloud datasets and open-source tools</a:t>
            </a:r>
          </a:p>
          <a:p>
            <a:pPr>
              <a:spcAft>
                <a:spcPts val="300"/>
              </a:spcAft>
              <a:defRPr sz="1050">
                <a:solidFill>
                  <a:srgbClr val="1F2937"/>
                </a:solidFill>
                <a:latin typeface="Arial"/>
              </a:defRPr>
            </a:pPr>
            <a:r>
              <a:t>• Python, Open3D, and PyTorch enable rapid prototype development</a:t>
            </a:r>
          </a:p>
          <a:p>
            <a:pPr>
              <a:spcAft>
                <a:spcPts val="300"/>
              </a:spcAft>
              <a:defRPr sz="1050">
                <a:solidFill>
                  <a:srgbClr val="1F2937"/>
                </a:solidFill>
                <a:latin typeface="Arial"/>
              </a:defRPr>
            </a:pPr>
            <a:r>
              <a:t>• Adaptive resolution reduces memory and computational requirements</a:t>
            </a:r>
          </a:p>
          <a:p>
            <a:pPr>
              <a:spcAft>
                <a:spcPts val="300"/>
              </a:spcAft>
              <a:defRPr sz="1050">
                <a:solidFill>
                  <a:srgbClr val="1F2937"/>
                </a:solidFill>
                <a:latin typeface="Arial"/>
              </a:defRPr>
            </a:pPr>
            <a:r>
              <a:t>• Modular pipeline allows components to be developed and tested independently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57600"/>
            <a:ext cx="2011680" cy="41148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FFFFF"/>
                </a:solidFill>
                <a:latin typeface="Arial"/>
              </a:defRPr>
            </a:pPr>
            <a:r>
              <a:t>Challenges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5303520" cy="21945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1F2937"/>
                </a:solidFill>
                <a:latin typeface="Arial"/>
              </a:defRPr>
            </a:pPr>
            <a:r>
              <a:t>• Real-time processing of large LiDAR point clouds at 10–20 Hz</a:t>
            </a:r>
          </a:p>
          <a:p>
            <a:pPr>
              <a:spcAft>
                <a:spcPts val="300"/>
              </a:spcAft>
              <a:defRPr sz="1050">
                <a:solidFill>
                  <a:srgbClr val="1F2937"/>
                </a:solidFill>
                <a:latin typeface="Arial"/>
              </a:defRPr>
            </a:pPr>
            <a:r>
              <a:t>• Accurate semantic classification in unstructured off-road scenes</a:t>
            </a:r>
          </a:p>
          <a:p>
            <a:pPr>
              <a:spcAft>
                <a:spcPts val="300"/>
              </a:spcAft>
              <a:defRPr sz="1050">
                <a:solidFill>
                  <a:srgbClr val="1F2937"/>
                </a:solidFill>
                <a:latin typeface="Arial"/>
              </a:defRPr>
            </a:pPr>
            <a:r>
              <a:t>• Avoiding false-positive obstacles for underpasses &amp; overhead foliage</a:t>
            </a:r>
          </a:p>
          <a:p>
            <a:pPr>
              <a:spcAft>
                <a:spcPts val="300"/>
              </a:spcAft>
              <a:defRPr sz="1050">
                <a:solidFill>
                  <a:srgbClr val="1F2937"/>
                </a:solidFill>
                <a:latin typeface="Arial"/>
              </a:defRPr>
            </a:pPr>
            <a:r>
              <a:t>• Maintaining critical safety detail while reducing distant cell resolution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188720"/>
            <a:ext cx="2377440" cy="41148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FFFFF"/>
                </a:solidFill>
                <a:latin typeface="Arial"/>
              </a:defRPr>
            </a:pPr>
            <a:r>
              <a:t>Mitigation Strategy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691640"/>
            <a:ext cx="5303520" cy="1463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1F2937"/>
                </a:solidFill>
                <a:latin typeface="Arial"/>
              </a:defRPr>
            </a:pPr>
            <a:r>
              <a:t>• Foveated variable-resolution mapping concentrates power in near-field</a:t>
            </a:r>
          </a:p>
          <a:p>
            <a:pPr>
              <a:spcAft>
                <a:spcPts val="300"/>
              </a:spcAft>
              <a:defRPr sz="1050">
                <a:solidFill>
                  <a:srgbClr val="1F2937"/>
                </a:solidFill>
                <a:latin typeface="Arial"/>
              </a:defRPr>
            </a:pPr>
            <a:r>
              <a:t>• Efficient preprocessing (SOR &amp; RANSAC ground fit) filters dust &amp; noise</a:t>
            </a:r>
          </a:p>
          <a:p>
            <a:pPr>
              <a:spcAft>
                <a:spcPts val="300"/>
              </a:spcAft>
              <a:defRPr sz="1050">
                <a:solidFill>
                  <a:srgbClr val="1F2937"/>
                </a:solidFill>
                <a:latin typeface="Arial"/>
              </a:defRPr>
            </a:pPr>
            <a:r>
              <a:t>• Vertical beam clearance filter enables underpass &amp; tunnel passage</a:t>
            </a:r>
          </a:p>
          <a:p>
            <a:pPr>
              <a:spcAft>
                <a:spcPts val="300"/>
              </a:spcAft>
              <a:defRPr sz="1050">
                <a:solidFill>
                  <a:srgbClr val="1F2937"/>
                </a:solidFill>
                <a:latin typeface="Arial"/>
              </a:defRPr>
            </a:pPr>
            <a:r>
              <a:t>• Validated on 20,672 points in 24.23 ms with 5/5 passing unit tests</a:t>
            </a:r>
          </a:p>
        </p:txBody>
      </p:sp>
      <p:pic>
        <p:nvPicPr>
          <p:cNvPr id="12" name="Picture 11" descr="car_lidar_sens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3291840"/>
            <a:ext cx="5303520" cy="389715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28600"/>
            <a:ext cx="12344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111827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20240" y="228600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100" b="1">
                <a:solidFill>
                  <a:srgbClr val="111827"/>
                </a:solidFill>
                <a:latin typeface="Arial"/>
              </a:defRPr>
            </a:pPr>
            <a:r>
              <a:t>IMPACT AND BENEFITS</a:t>
            </a:r>
          </a:p>
        </p:txBody>
      </p:sp>
      <p:pic>
        <p:nvPicPr>
          <p:cNvPr id="4" name="Picture 3" descr="page_1_1_I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82880"/>
            <a:ext cx="1463040" cy="69129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 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1828800" cy="41148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FFFFF"/>
                </a:solidFill>
                <a:latin typeface="Arial"/>
              </a:defRPr>
            </a:pPr>
            <a:r>
              <a:t>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4572000" cy="1463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000">
                <a:solidFill>
                  <a:srgbClr val="1F2937"/>
                </a:solidFill>
                <a:latin typeface="Arial"/>
              </a:defRPr>
            </a:pPr>
            <a:r>
              <a:t>• Supports safer, faster, and reliable autonomous UGV navigation</a:t>
            </a:r>
          </a:p>
          <a:p>
            <a:pPr>
              <a:spcAft>
                <a:spcPts val="200"/>
              </a:spcAft>
              <a:defRPr sz="1000">
                <a:solidFill>
                  <a:srgbClr val="1F2937"/>
                </a:solidFill>
                <a:latin typeface="Arial"/>
              </a:defRPr>
            </a:pPr>
            <a:r>
              <a:t>• Provides sub-meter precision in safety-critical near-field zones</a:t>
            </a:r>
          </a:p>
          <a:p>
            <a:pPr>
              <a:spcAft>
                <a:spcPts val="200"/>
              </a:spcAft>
              <a:defRPr sz="1000">
                <a:solidFill>
                  <a:srgbClr val="1F2937"/>
                </a:solidFill>
                <a:latin typeface="Arial"/>
              </a:defRPr>
            </a:pPr>
            <a:r>
              <a:t>• Active LiDAR penetrates smoke, fog &amp; night darkness for defence</a:t>
            </a:r>
          </a:p>
          <a:p>
            <a:pPr>
              <a:spcAft>
                <a:spcPts val="200"/>
              </a:spcAft>
              <a:defRPr sz="1000">
                <a:solidFill>
                  <a:srgbClr val="1F2937"/>
                </a:solidFill>
                <a:latin typeface="Arial"/>
              </a:defRPr>
            </a:pPr>
            <a:r>
              <a:t>• Enables true real-time terrain and obstacle understanding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46120"/>
            <a:ext cx="2011680" cy="41148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FFFFF"/>
                </a:solidFill>
                <a:latin typeface="Arial"/>
              </a:defRPr>
            </a:pPr>
            <a:r>
              <a:t>Applications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4572000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000">
                <a:solidFill>
                  <a:srgbClr val="1F2937"/>
                </a:solidFill>
                <a:latin typeface="Arial"/>
              </a:defRPr>
            </a:pPr>
            <a:r>
              <a:t>• Defence UGVs (border surveillance, minefield reconnaissance, logistics)</a:t>
            </a:r>
          </a:p>
          <a:p>
            <a:pPr>
              <a:spcAft>
                <a:spcPts val="200"/>
              </a:spcAft>
              <a:defRPr sz="1000">
                <a:solidFill>
                  <a:srgbClr val="1F2937"/>
                </a:solidFill>
                <a:latin typeface="Arial"/>
              </a:defRPr>
            </a:pPr>
            <a:r>
              <a:t>• Off-road autonomous vehicles, mobile robots &amp; SAR rovers</a:t>
            </a:r>
          </a:p>
          <a:p>
            <a:pPr>
              <a:spcAft>
                <a:spcPts val="200"/>
              </a:spcAft>
              <a:defRPr sz="1000">
                <a:solidFill>
                  <a:srgbClr val="1F2937"/>
                </a:solidFill>
                <a:latin typeface="Arial"/>
              </a:defRPr>
            </a:pPr>
            <a:r>
              <a:t>• Intelligent driver assistance (ADAS HUD in dense Himalayan fog)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846320"/>
            <a:ext cx="1828800" cy="41148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FFFFF"/>
                </a:solidFill>
                <a:latin typeface="Arial"/>
              </a:defRPr>
            </a:pPr>
            <a:r>
              <a:t>Benefits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303520"/>
            <a:ext cx="4572000" cy="11887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000">
                <a:solidFill>
                  <a:srgbClr val="1F2937"/>
                </a:solidFill>
                <a:latin typeface="Arial"/>
              </a:defRPr>
            </a:pPr>
            <a:r>
              <a:t>• 66.2% lower memory footprint &amp; 4.8× faster latency (24.23 ms)</a:t>
            </a:r>
          </a:p>
          <a:p>
            <a:pPr>
              <a:spcAft>
                <a:spcPts val="200"/>
              </a:spcAft>
              <a:defRPr sz="1000">
                <a:solidFill>
                  <a:srgbClr val="1F2937"/>
                </a:solidFill>
                <a:latin typeface="Arial"/>
              </a:defRPr>
            </a:pPr>
            <a:r>
              <a:t>• Preserves critical 2.5D height profiles (slope, roughness, Z_max)</a:t>
            </a:r>
          </a:p>
          <a:p>
            <a:pPr>
              <a:spcAft>
                <a:spcPts val="200"/>
              </a:spcAft>
              <a:defRPr sz="1000">
                <a:solidFill>
                  <a:srgbClr val="1F2937"/>
                </a:solidFill>
                <a:latin typeface="Arial"/>
              </a:defRPr>
            </a:pPr>
            <a:r>
              <a:t>• Runs smoothly on low-power edge hardware (NVIDIA Jetson Orin)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1143000"/>
            <a:ext cx="621792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300" b="1">
                <a:solidFill>
                  <a:srgbClr val="1D4ED8"/>
                </a:solidFill>
                <a:latin typeface="Arial"/>
              </a:defRPr>
            </a:pPr>
            <a:r>
              <a:t>Visual Impact: Raw Input vs Cleaned Adaptive Perception</a:t>
            </a:r>
          </a:p>
        </p:txBody>
      </p:sp>
      <p:pic>
        <p:nvPicPr>
          <p:cNvPr id="13" name="Picture 12" descr="bef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1554480"/>
            <a:ext cx="3154680" cy="236601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94960" y="3931920"/>
            <a:ext cx="315468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1000" b="1">
                <a:solidFill>
                  <a:srgbClr val="1F2937"/>
                </a:solidFill>
              </a:defRPr>
            </a:pPr>
            <a:r>
              <a:t>Raw LiDAR (20,672 points)</a:t>
            </a:r>
          </a:p>
        </p:txBody>
      </p:sp>
      <p:pic>
        <p:nvPicPr>
          <p:cNvPr id="15" name="Picture 14" descr="af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554480"/>
            <a:ext cx="3154680" cy="236601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0" y="3931920"/>
            <a:ext cx="315468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1000" b="1">
                <a:solidFill>
                  <a:srgbClr val="1F2937"/>
                </a:solidFill>
              </a:defRPr>
            </a:pPr>
            <a:r>
              <a:t>Filtered 2.5D Traversability Map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94960" y="4343400"/>
            <a:ext cx="6400800" cy="201168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spcAft>
                <a:spcPts val="400"/>
              </a:spcAft>
              <a:defRPr sz="1100" b="1">
                <a:solidFill>
                  <a:srgbClr val="1D4ED8"/>
                </a:solidFill>
                <a:latin typeface="Arial"/>
              </a:defRPr>
            </a:pPr>
            <a:r>
              <a:t>🏆 Production Performance Benchmark on KITTI Velodyne Data:</a:t>
            </a:r>
          </a:p>
          <a:p>
            <a:pPr>
              <a:spcAft>
                <a:spcPts val="200"/>
              </a:spcAft>
              <a:defRPr sz="950">
                <a:solidFill>
                  <a:srgbClr val="1F2937"/>
                </a:solidFill>
                <a:latin typeface="Arial"/>
              </a:defRPr>
            </a:pPr>
            <a:r>
              <a:t>• Active Stored Cells: Reduced from 2,888 (uniform) to 976 (adaptive) — 66.2% Cell Reduction</a:t>
            </a:r>
          </a:p>
          <a:p>
            <a:pPr>
              <a:spcAft>
                <a:spcPts val="200"/>
              </a:spcAft>
              <a:defRPr sz="950">
                <a:solidFill>
                  <a:srgbClr val="1F2937"/>
                </a:solidFill>
                <a:latin typeface="Arial"/>
              </a:defRPr>
            </a:pPr>
            <a:r>
              <a:t>• Mapping Compute Time: Reduced from 115.94 ms to 24.23 ms — 4.8× Latency Speedup</a:t>
            </a:r>
          </a:p>
          <a:p>
            <a:pPr>
              <a:spcAft>
                <a:spcPts val="200"/>
              </a:spcAft>
              <a:defRPr sz="950">
                <a:solidFill>
                  <a:srgbClr val="1F2937"/>
                </a:solidFill>
                <a:latin typeface="Arial"/>
              </a:defRPr>
            </a:pPr>
            <a:r>
              <a:t>• Traversable Area: 817 safe cells (83.71%) accurately identified without collision risk</a:t>
            </a:r>
          </a:p>
          <a:p>
            <a:pPr>
              <a:spcAft>
                <a:spcPts val="200"/>
              </a:spcAft>
              <a:defRPr sz="950">
                <a:solidFill>
                  <a:srgbClr val="1F2937"/>
                </a:solidFill>
                <a:latin typeface="Arial"/>
              </a:defRPr>
            </a:pPr>
            <a:r>
              <a:t>• Autonomous Execution: Zero-collision 47-cell A* path tracked smoothly via Pure Pursuit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28600"/>
            <a:ext cx="12344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111827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20240" y="228600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100" b="1">
                <a:solidFill>
                  <a:srgbClr val="111827"/>
                </a:solidFill>
                <a:latin typeface="Arial"/>
              </a:defRPr>
            </a:pPr>
            <a:r>
              <a:t>RESEARCH AND REFERENCES</a:t>
            </a:r>
          </a:p>
        </p:txBody>
      </p:sp>
      <p:pic>
        <p:nvPicPr>
          <p:cNvPr id="4" name="Picture 3" descr="page_1_1_I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82880"/>
            <a:ext cx="1463040" cy="69129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114800" cy="3657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600" b="1">
                <a:solidFill>
                  <a:srgbClr val="1D4ED8"/>
                </a:solidFill>
                <a:latin typeface="Arial"/>
              </a:defRPr>
            </a:pPr>
            <a:r>
              <a:t>Research Areas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11480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F2937"/>
                </a:solidFill>
                <a:latin typeface="Arial"/>
              </a:defRPr>
            </a:pPr>
            <a:r>
              <a:t>• LiDAR point cloud processing &amp; filtering</a:t>
            </a:r>
          </a:p>
          <a:p>
            <a:pPr>
              <a:spcAft>
                <a:spcPts val="200"/>
              </a:spcAft>
              <a:defRPr sz="1050">
                <a:solidFill>
                  <a:srgbClr val="1F2937"/>
                </a:solidFill>
                <a:latin typeface="Arial"/>
              </a:defRPr>
            </a:pPr>
            <a:r>
              <a:t>• 2.5D and elevation mapping for rough terrain</a:t>
            </a:r>
          </a:p>
          <a:p>
            <a:pPr>
              <a:spcAft>
                <a:spcPts val="200"/>
              </a:spcAft>
              <a:defRPr sz="1050">
                <a:solidFill>
                  <a:srgbClr val="1F2937"/>
                </a:solidFill>
                <a:latin typeface="Arial"/>
              </a:defRPr>
            </a:pPr>
            <a:r>
              <a:t>• Deep semantic segmentation of point clouds</a:t>
            </a:r>
          </a:p>
          <a:p>
            <a:pPr>
              <a:spcAft>
                <a:spcPts val="200"/>
              </a:spcAft>
              <a:defRPr sz="1050">
                <a:solidFill>
                  <a:srgbClr val="1F2937"/>
                </a:solidFill>
                <a:latin typeface="Arial"/>
              </a:defRPr>
            </a:pPr>
            <a:r>
              <a:t>• Autonomous UGV navigation &amp; kinematics</a:t>
            </a:r>
          </a:p>
          <a:p>
            <a:pPr>
              <a:spcAft>
                <a:spcPts val="200"/>
              </a:spcAft>
              <a:defRPr sz="1050">
                <a:solidFill>
                  <a:srgbClr val="1F2937"/>
                </a:solidFill>
                <a:latin typeface="Arial"/>
              </a:defRPr>
            </a:pPr>
            <a:r>
              <a:t>• Adaptive and variable-resolution mapping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74720"/>
            <a:ext cx="4114800" cy="3657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600" b="1">
                <a:solidFill>
                  <a:srgbClr val="1D4ED8"/>
                </a:solidFill>
                <a:latin typeface="Arial"/>
              </a:defRPr>
            </a:pPr>
            <a:r>
              <a:t>References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86200"/>
            <a:ext cx="4114800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1F2937"/>
                </a:solidFill>
                <a:latin typeface="Arial"/>
              </a:defRPr>
            </a:pPr>
            <a:r>
              <a:t>• KITTI Vision Benchmark Suite (Velodyne HDL-64E)</a:t>
            </a:r>
          </a:p>
          <a:p>
            <a:pPr>
              <a:spcAft>
                <a:spcPts val="300"/>
              </a:spcAft>
              <a:defRPr sz="1000">
                <a:solidFill>
                  <a:srgbClr val="1F2937"/>
                </a:solidFill>
                <a:latin typeface="Arial"/>
              </a:defRPr>
            </a:pPr>
            <a:r>
              <a:t>• ETH Zurich Robot-Centric Elevation Mapping (P. Fankhauser)</a:t>
            </a:r>
          </a:p>
          <a:p>
            <a:pPr>
              <a:spcAft>
                <a:spcPts val="300"/>
              </a:spcAft>
              <a:defRPr sz="1000">
                <a:solidFill>
                  <a:srgbClr val="1F2937"/>
                </a:solidFill>
                <a:latin typeface="Arial"/>
              </a:defRPr>
            </a:pPr>
            <a:r>
              <a:t>• CMU Robotics Institute Pure Pursuit Kinematics (R. C. Coulter)</a:t>
            </a:r>
          </a:p>
          <a:p>
            <a:pPr>
              <a:spcAft>
                <a:spcPts val="300"/>
              </a:spcAft>
              <a:defRPr sz="1000">
                <a:solidFill>
                  <a:srgbClr val="1F2937"/>
                </a:solidFill>
                <a:latin typeface="Arial"/>
              </a:defRPr>
            </a:pPr>
            <a:r>
              <a:t>• Open3D &amp; PyTorch Deep Learning Documentation</a:t>
            </a:r>
          </a:p>
          <a:p>
            <a:pPr>
              <a:spcAft>
                <a:spcPts val="300"/>
              </a:spcAft>
              <a:defRPr sz="1000">
                <a:solidFill>
                  <a:srgbClr val="1F2937"/>
                </a:solidFill>
                <a:latin typeface="Arial"/>
              </a:defRPr>
            </a:pPr>
            <a:r>
              <a:t>• Research literature on LiDAR semantic segmentation &amp; autonomous foveated navigation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1188720"/>
            <a:ext cx="6858000" cy="3657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1600" b="1">
                <a:solidFill>
                  <a:srgbClr val="111827"/>
                </a:solidFill>
                <a:latin typeface="Arial"/>
              </a:defRPr>
            </a:pPr>
            <a:r>
              <a:t>LiDAR 2.5 RESEARCH PIPELINE</a:t>
            </a:r>
          </a:p>
        </p:txBody>
      </p:sp>
      <p:pic>
        <p:nvPicPr>
          <p:cNvPr id="11" name="Picture 10" descr="page_6_33_Im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691640"/>
            <a:ext cx="6949440" cy="3813367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846320" y="4663440"/>
            <a:ext cx="6949440" cy="169164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spcAft>
                <a:spcPts val="300"/>
              </a:spcAft>
              <a:defRPr sz="1100" b="1">
                <a:solidFill>
                  <a:srgbClr val="1D4ED8"/>
                </a:solidFill>
                <a:latin typeface="Arial"/>
              </a:defRPr>
            </a:pPr>
            <a:r>
              <a:t>💻 Verified Project Deliverables &amp; Repository:</a:t>
            </a:r>
          </a:p>
          <a:p>
            <a:pPr>
              <a:spcAft>
                <a:spcPts val="200"/>
              </a:spcAft>
              <a:defRPr sz="950">
                <a:solidFill>
                  <a:srgbClr val="1F2937"/>
                </a:solidFill>
                <a:latin typeface="Arial"/>
              </a:defRPr>
            </a:pPr>
            <a:r>
              <a:t>• Working 60 FPS HTML5 / Flask Localhost Simulator with moving-car foveation</a:t>
            </a:r>
          </a:p>
          <a:p>
            <a:pPr>
              <a:spcAft>
                <a:spcPts val="200"/>
              </a:spcAft>
              <a:defRPr sz="950">
                <a:solidFill>
                  <a:srgbClr val="1F2937"/>
                </a:solidFill>
                <a:latin typeface="Arial"/>
              </a:defRPr>
            </a:pPr>
            <a:r>
              <a:t>• Automated Unit Test Suite (5/5 tests passing in 4.0s verifying all modules)</a:t>
            </a:r>
          </a:p>
          <a:p>
            <a:pPr>
              <a:spcAft>
                <a:spcPts val="200"/>
              </a:spcAft>
              <a:defRPr sz="950">
                <a:solidFill>
                  <a:srgbClr val="1F2937"/>
                </a:solidFill>
                <a:latin typeface="Arial"/>
              </a:defRPr>
            </a:pPr>
            <a:r>
              <a:t>• Open Source GitHub Repository: github.com/AbhayVerma628/SIH26053_Lidar</a:t>
            </a:r>
          </a:p>
          <a:p>
            <a:pPr>
              <a:spcAft>
                <a:spcPts val="200"/>
              </a:spcAft>
              <a:defRPr sz="950">
                <a:solidFill>
                  <a:srgbClr val="1F2937"/>
                </a:solidFill>
                <a:latin typeface="Arial"/>
              </a:defRPr>
            </a:pPr>
            <a:r>
              <a:t>• Complete 5-panel Matplotlib dashboard, 10 Hz vehicle telemetry log CSV &amp; benchmarks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