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"/>
            <a:ext cx="9144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E2760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601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Arial"/>
              </a:defRPr>
            </a:pPr>
            <a:r>
              <a:t>Adaptive Foveated 2.5D Semantic Mapping for</a:t>
            </a:r>
            <a:br/>
            <a:r>
              <a:t>Autonomous Navigation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148840"/>
            <a:ext cx="658368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ID –</a:t>
            </a:r>
            <a:r>
              <a:rPr sz="1380" b="0">
                <a:solidFill>
                  <a:srgbClr val="232323"/>
                </a:solidFill>
                <a:latin typeface="Arial"/>
              </a:rPr>
              <a:t> 26053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Problem Statement Title –</a:t>
            </a:r>
            <a:r>
              <a:rPr sz="1380" b="0">
                <a:solidFill>
                  <a:srgbClr val="232323"/>
                </a:solidFill>
                <a:latin typeface="Arial"/>
              </a:rPr>
              <a:t> Adaptive Foveated 2.5D Semantic Mapping from LiDAR Point Clouds for Autonomous Navigation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Theme –</a:t>
            </a:r>
            <a:r>
              <a:rPr sz="1380" b="0">
                <a:solidFill>
                  <a:srgbClr val="232323"/>
                </a:solidFill>
                <a:latin typeface="Arial"/>
              </a:rPr>
              <a:t> Smart Vehicles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PS Category –</a:t>
            </a:r>
            <a:r>
              <a:rPr sz="1380" b="0">
                <a:solidFill>
                  <a:srgbClr val="232323"/>
                </a:solidFill>
                <a:latin typeface="Arial"/>
              </a:rPr>
              <a:t> Software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ID –</a:t>
            </a:r>
            <a:r>
              <a:rPr sz="1380" b="0">
                <a:solidFill>
                  <a:srgbClr val="232323"/>
                </a:solidFill>
                <a:latin typeface="Arial"/>
              </a:rPr>
              <a:t> TBA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Name –</a:t>
            </a:r>
            <a:r>
              <a:rPr sz="1380" b="0">
                <a:solidFill>
                  <a:srgbClr val="232323"/>
                </a:solidFill>
                <a:latin typeface="Arial"/>
              </a:rPr>
              <a:t> TeraPulse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Team Members –</a:t>
            </a:r>
            <a:r>
              <a:rPr sz="1380" b="0">
                <a:solidFill>
                  <a:srgbClr val="232323"/>
                </a:solidFill>
                <a:latin typeface="Arial"/>
              </a:rPr>
              <a:t> Abhay Verma (Team Leader), Lokendra Singh,
Yashvardhan Jain, Chetan Meena, Sachin Chaubey, Esha Verma</a:t>
            </a:r>
          </a:p>
          <a:p>
            <a:pPr>
              <a:spcAft>
                <a:spcPts val="800"/>
              </a:spcAft>
            </a:pPr>
            <a:r>
              <a:rPr sz="1380" b="1">
                <a:solidFill>
                  <a:srgbClr val="000000"/>
                </a:solidFill>
                <a:latin typeface="Arial"/>
              </a:rPr>
              <a:t>• Institute –</a:t>
            </a:r>
            <a:r>
              <a:rPr sz="1380" b="0">
                <a:solidFill>
                  <a:srgbClr val="232323"/>
                </a:solidFill>
                <a:latin typeface="Arial"/>
              </a:rPr>
              <a:t> Indian Institute of Information Technology Bhopal</a:t>
            </a:r>
          </a:p>
        </p:txBody>
      </p:sp>
      <p:pic>
        <p:nvPicPr>
          <p:cNvPr id="6" name="Picture 5" descr="page_1_0_Im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011680"/>
            <a:ext cx="4754880" cy="5085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182880"/>
            <a:ext cx="7589520" cy="822960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000" b="1">
                <a:solidFill>
                  <a:srgbClr val="000000"/>
                </a:solidFill>
                <a:latin typeface="Arial"/>
              </a:defRPr>
            </a:pPr>
            <a:r>
              <a:t>Adaptive Foveated 2.5D Semantic Mapping</a:t>
            </a:r>
            <a:br/>
            <a:r>
              <a:t>for Autonomous Navigation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603504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2.5D Semantic Elevation Map: </a:t>
            </a:r>
            <a:r>
              <a:rPr sz="1250" b="0">
                <a:solidFill>
                  <a:srgbClr val="232323"/>
                </a:solidFill>
                <a:latin typeface="Arial"/>
              </a:rPr>
              <a:t>Generated directly from raw LiDAR point clouds.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High-Precision Near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Fine resolution (0.25 m) near vehicle for critical steering.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Bandwidth-Saving Far Field: </a:t>
            </a:r>
            <a:r>
              <a:rPr sz="1250" b="0">
                <a:solidFill>
                  <a:srgbClr val="232323"/>
                </a:solidFill>
                <a:latin typeface="Arial"/>
              </a:rPr>
              <a:t>Lower resolution (0.75 m &amp; 2.0 m) for distant regions — cuts unnecessary compute.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Elevation &amp; Slope Awareness: </a:t>
            </a:r>
            <a:r>
              <a:rPr sz="1250" b="0">
                <a:solidFill>
                  <a:srgbClr val="232323"/>
                </a:solidFill>
                <a:latin typeface="Arial"/>
              </a:rPr>
              <a:t>Preserves terrain slopes, curbs &amp; ditches without full 3D voxels.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Real-Time Terrain Intelligence: </a:t>
            </a:r>
            <a:r>
              <a:rPr sz="1250" b="0">
                <a:solidFill>
                  <a:srgbClr val="232323"/>
                </a:solidFill>
                <a:latin typeface="Arial"/>
              </a:rPr>
              <a:t>Identifies drivable ground, static obstacles &amp; dynamic objects.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• Autonomous Navigation Ready: </a:t>
            </a:r>
            <a:r>
              <a:rPr sz="1250" b="0">
                <a:solidFill>
                  <a:srgbClr val="232323"/>
                </a:solidFill>
                <a:latin typeface="Arial"/>
              </a:rPr>
              <a:t>Enables instant A* path planning &amp; Pure Pursuit motion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60350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❖ Innovation &amp; Uniqueness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92040"/>
            <a:ext cx="603504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000000"/>
                </a:solidFill>
                <a:latin typeface="Arial"/>
              </a:rPr>
              <a:t>Foveated adaptive resolution </a:t>
            </a:r>
            <a:r>
              <a:rPr sz="1250" i="1">
                <a:solidFill>
                  <a:srgbClr val="232323"/>
                </a:solidFill>
                <a:latin typeface="Arial"/>
              </a:rPr>
              <a:t>focuses computational resources where they matter most, instead of processing the entire environment at the same resolution.</a:t>
            </a:r>
          </a:p>
          <a:p>
            <a:r>
              <a:rPr sz="1250" b="1">
                <a:solidFill>
                  <a:srgbClr val="000000"/>
                </a:solidFill>
                <a:latin typeface="Arial"/>
              </a:rPr>
              <a:t>• Measurable Impact: </a:t>
            </a:r>
            <a:r>
              <a:rPr sz="1250" b="0">
                <a:solidFill>
                  <a:srgbClr val="232323"/>
                </a:solidFill>
                <a:latin typeface="Arial"/>
              </a:rPr>
              <a:t>Slashes cell memory by 66.2% and cuts processing latency to 24.23 ms (&gt;35 FPS).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1887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0000"/>
                </a:solidFill>
                <a:latin typeface="Arial"/>
              </a:defRPr>
            </a:pPr>
            <a:r>
              <a:t>Foveated 2.5D Semantic Elevation Map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0" y="1600200"/>
            <a:ext cx="3840480" cy="3840480"/>
          </a:xfrm>
          <a:prstGeom prst="ellipse">
            <a:avLst/>
          </a:prstGeom>
          <a:solidFill>
            <a:srgbClr val="BEDCFA"/>
          </a:solidFill>
          <a:ln w="25400">
            <a:solidFill>
              <a:srgbClr val="64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75320" y="2560320"/>
            <a:ext cx="1920240" cy="1920240"/>
          </a:xfrm>
          <a:prstGeom prst="ellipse">
            <a:avLst/>
          </a:prstGeom>
          <a:solidFill>
            <a:srgbClr val="006FC0"/>
          </a:solidFill>
          <a:ln w="25400">
            <a:solidFill>
              <a:srgbClr val="0A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006840" y="3383280"/>
            <a:ext cx="457200" cy="274320"/>
          </a:xfrm>
          <a:prstGeom prst="roundRect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0" y="292608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0" y="292608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49640" y="347472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29800" y="347472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78240" y="402336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0" y="402336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35440" y="283464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35440" y="411480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0" y="21031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07040" y="21031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589520" y="34747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789920" y="347472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63840" y="475488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15600" y="475488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35440" y="1874519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0" y="5120640"/>
            <a:ext cx="109728" cy="109728"/>
          </a:xfrm>
          <a:prstGeom prst="ellipse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40880" y="5687568"/>
            <a:ext cx="320040" cy="219456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52360" y="5660136"/>
            <a:ext cx="438912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b="1" sz="1100">
                <a:solidFill>
                  <a:srgbClr val="000000"/>
                </a:solidFill>
              </a:rPr>
              <a:t>High resolution near the vehicle </a:t>
            </a:r>
            <a:r>
              <a:rPr sz="1100">
                <a:solidFill>
                  <a:srgbClr val="232323"/>
                </a:solidFill>
              </a:rPr>
              <a:t>(near-field: 0.25 m bubble)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40880" y="6016752"/>
            <a:ext cx="320040" cy="219456"/>
          </a:xfrm>
          <a:prstGeom prst="rect">
            <a:avLst/>
          </a:prstGeom>
          <a:solidFill>
            <a:srgbClr val="BED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5989320"/>
            <a:ext cx="438912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b="1" sz="1100">
                <a:solidFill>
                  <a:srgbClr val="000000"/>
                </a:solidFill>
              </a:rPr>
              <a:t>Lower resolution for distant regions </a:t>
            </a:r>
            <a:r>
              <a:rPr sz="1100">
                <a:solidFill>
                  <a:srgbClr val="232323"/>
                </a:solidFill>
              </a:rPr>
              <a:t>(far-field: 0.75m &amp; 2.0m)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4206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System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LiDAR Point Cloud</a:t>
            </a:r>
          </a:p>
        </p:txBody>
      </p:sp>
      <p:sp>
        <p:nvSpPr>
          <p:cNvPr id="9" name="Down Arrow 8"/>
          <p:cNvSpPr/>
          <p:nvPr/>
        </p:nvSpPr>
        <p:spPr>
          <a:xfrm>
            <a:off x="2542032" y="220370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242316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Preprocessing &amp; Noise Removal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542032" y="293522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Semantic Understanding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542032" y="366674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Foveated Adaptive Grid Generation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542032" y="439826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4206240" cy="493776"/>
          </a:xfrm>
          <a:prstGeom prst="roundRect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2.5D Semantic Elevation Map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2542032" y="5129784"/>
            <a:ext cx="219456" cy="164592"/>
          </a:xfrm>
          <a:prstGeom prst="downArrow">
            <a:avLst/>
          </a:prstGeom>
          <a:solidFill>
            <a:srgbClr val="1E2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349240"/>
            <a:ext cx="4206240" cy="493776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Real-Time Visualization &amp; Navigation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188720"/>
            <a:ext cx="649224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Technologies &amp; Implementation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1645920"/>
            <a:ext cx="649224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Python, Open3D &amp; NumPy: </a:t>
            </a:r>
            <a:r>
              <a:rPr sz="1150" b="0">
                <a:solidFill>
                  <a:srgbClr val="232323"/>
                </a:solidFill>
                <a:latin typeface="Arial"/>
              </a:rPr>
              <a:t>Point cloud preprocessing, voxelization &amp; spatial hashing.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Deep Learning: </a:t>
            </a:r>
            <a:r>
              <a:rPr sz="1150" b="0">
                <a:solidFill>
                  <a:srgbClr val="232323"/>
                </a:solidFill>
                <a:latin typeface="Arial"/>
              </a:rPr>
              <a:t>Semantic terrain classification (Ground, Static Obstacles, Dynamic Vehicles).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A* Search &amp; Pure Pursuit: </a:t>
            </a:r>
            <a:r>
              <a:rPr sz="1150" b="0">
                <a:solidFill>
                  <a:srgbClr val="232323"/>
                </a:solidFill>
                <a:latin typeface="Arial"/>
              </a:rPr>
              <a:t>Collision-free path planning &amp; smooth 10 Hz vehicle steering kinematics.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Interactive Web Dashboard: </a:t>
            </a:r>
            <a:r>
              <a:rPr sz="1150" b="0">
                <a:solidFill>
                  <a:srgbClr val="232323"/>
                </a:solidFill>
                <a:latin typeface="Arial"/>
              </a:rPr>
              <a:t>Flask REST API, 60 FPS HTML5 Canvas with moving foveation bubble.</a:t>
            </a:r>
          </a:p>
        </p:txBody>
      </p:sp>
      <p:pic>
        <p:nvPicPr>
          <p:cNvPr id="21" name="Picture 20" descr="navigatio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3154680"/>
            <a:ext cx="5146935" cy="3108960"/>
          </a:xfrm>
          <a:prstGeom prst="rect">
            <a:avLst/>
          </a:prstGeom>
          <a:ln w="12700">
            <a:solidFill>
              <a:srgbClr val="BFC0BF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5120640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Standard Datasets: </a:t>
            </a:r>
            <a:r>
              <a:rPr sz="1150" b="0">
                <a:solidFill>
                  <a:srgbClr val="232323"/>
                </a:solidFill>
                <a:latin typeface="Arial"/>
              </a:rPr>
              <a:t>Uses widely available LiDAR point cloud datasets &amp; open-source tools.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Rapid Development: </a:t>
            </a:r>
            <a:r>
              <a:rPr sz="1150" b="0">
                <a:solidFill>
                  <a:srgbClr val="232323"/>
                </a:solidFill>
                <a:latin typeface="Arial"/>
              </a:rPr>
              <a:t>Python, Open3D, and PyTorch enable agile modular prototyping.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Low-Power Efficiency: </a:t>
            </a:r>
            <a:r>
              <a:rPr sz="1150" b="0">
                <a:solidFill>
                  <a:srgbClr val="232323"/>
                </a:solidFill>
                <a:latin typeface="Arial"/>
              </a:rPr>
              <a:t>Adaptive resolution drastically reduces memory &amp; compute requirements.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Modular Pipeline: </a:t>
            </a:r>
            <a:r>
              <a:rPr sz="1150" b="0">
                <a:solidFill>
                  <a:srgbClr val="232323"/>
                </a:solidFill>
                <a:latin typeface="Arial"/>
              </a:rPr>
              <a:t>Components tested independently with 5/5 automated unit tests passing.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11880"/>
            <a:ext cx="20116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Challenges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512064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Heavy Data Stream: </a:t>
            </a:r>
            <a:r>
              <a:rPr sz="1150" b="0">
                <a:solidFill>
                  <a:srgbClr val="232323"/>
                </a:solidFill>
                <a:latin typeface="Arial"/>
              </a:rPr>
              <a:t>Real-time processing of large LiDAR point clouds at 10–20 Hz.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Off-Road Accuracy: </a:t>
            </a:r>
            <a:r>
              <a:rPr sz="1150" b="0">
                <a:solidFill>
                  <a:srgbClr val="232323"/>
                </a:solidFill>
                <a:latin typeface="Arial"/>
              </a:rPr>
              <a:t>Accurate semantic classification in unstructured off-road scenes.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Underpasses &amp; Tunnels: </a:t>
            </a:r>
            <a:r>
              <a:rPr sz="1150" b="0">
                <a:solidFill>
                  <a:srgbClr val="232323"/>
                </a:solidFill>
                <a:latin typeface="Arial"/>
              </a:rPr>
              <a:t>Avoiding false-positive obstacle detection for bridge ceilings.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Detail Retention: </a:t>
            </a:r>
            <a:r>
              <a:rPr sz="1150" b="0">
                <a:solidFill>
                  <a:srgbClr val="232323"/>
                </a:solidFill>
                <a:latin typeface="Arial"/>
              </a:rPr>
              <a:t>Maintaining critical safety clearance while reducing distant resolution.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9788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1143000"/>
            <a:ext cx="246888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Mitigation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91640"/>
            <a:ext cx="5486400" cy="1554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Foveated Attention: </a:t>
            </a:r>
            <a:r>
              <a:rPr sz="1150" b="0">
                <a:solidFill>
                  <a:srgbClr val="232323"/>
                </a:solidFill>
                <a:latin typeface="Arial"/>
              </a:rPr>
              <a:t>Variable-resolution mapping concentrates compute in near-field (24.23 ms).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SOR &amp; RANSAC Fit: </a:t>
            </a:r>
            <a:r>
              <a:rPr sz="1150" b="0">
                <a:solidFill>
                  <a:srgbClr val="232323"/>
                </a:solidFill>
                <a:latin typeface="Arial"/>
              </a:rPr>
              <a:t>Statistical Outlier Removal &amp; ground fit eliminate dust &amp; sensor reflections.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Vertical Clearance: </a:t>
            </a:r>
            <a:r>
              <a:rPr sz="1150" b="0">
                <a:solidFill>
                  <a:srgbClr val="232323"/>
                </a:solidFill>
                <a:latin typeface="Arial"/>
              </a:rPr>
              <a:t>Clearance filter ignores points &gt;2.2 m, enabling safe tunnel traversal.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00000"/>
                </a:solidFill>
                <a:latin typeface="Arial"/>
              </a:rPr>
              <a:t>• Proven Benchmark: </a:t>
            </a:r>
            <a:r>
              <a:rPr sz="1150" b="0">
                <a:solidFill>
                  <a:srgbClr val="232323"/>
                </a:solidFill>
                <a:latin typeface="Arial"/>
              </a:rPr>
              <a:t>Benchmarked on 20,672 points at &gt;35 FPS with zero crash failures.</a:t>
            </a:r>
          </a:p>
        </p:txBody>
      </p:sp>
      <p:pic>
        <p:nvPicPr>
          <p:cNvPr id="14" name="Picture 13" descr="car_lidar_se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291840"/>
            <a:ext cx="5394960" cy="39643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438912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Tactical UGV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Supports safer and faster autonomous military navigation.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Critical Near-Field Safety: </a:t>
            </a:r>
            <a:r>
              <a:rPr sz="1100" b="0">
                <a:solidFill>
                  <a:srgbClr val="232323"/>
                </a:solidFill>
                <a:latin typeface="Arial"/>
              </a:rPr>
              <a:t>Sub-meter precision in safety-critical perimeter around vehicle.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Zero-Visibility Ops: </a:t>
            </a:r>
            <a:r>
              <a:rPr sz="1100" b="0">
                <a:solidFill>
                  <a:srgbClr val="232323"/>
                </a:solidFill>
                <a:latin typeface="Arial"/>
              </a:rPr>
              <a:t>Active LiDAR penetrates smoke, dust, fog &amp; battlefield darkness.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Terrain Intelligence: </a:t>
            </a:r>
            <a:r>
              <a:rPr sz="1100" b="0">
                <a:solidFill>
                  <a:srgbClr val="232323"/>
                </a:solidFill>
                <a:latin typeface="Arial"/>
              </a:rPr>
              <a:t>Real-time elevation slope, ditches &amp; surface roughness understanding.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74720"/>
            <a:ext cx="210312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Applications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23360"/>
            <a:ext cx="438912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Defence &amp; Tactical UGVs: </a:t>
            </a:r>
            <a:r>
              <a:rPr sz="1100" b="0">
                <a:solidFill>
                  <a:srgbClr val="232323"/>
                </a:solidFill>
                <a:latin typeface="Arial"/>
              </a:rPr>
              <a:t>Logistics convoys, perimeter patrols, scout rovers &amp; minefield recon.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Off-Road Autonomous Rovers: </a:t>
            </a:r>
            <a:r>
              <a:rPr sz="1100" b="0">
                <a:solidFill>
                  <a:srgbClr val="232323"/>
                </a:solidFill>
                <a:latin typeface="Arial"/>
              </a:rPr>
              <a:t>Search-and-rescue rovers in disaster zones, agricultural robotics.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Driver Assistance (ADAS): </a:t>
            </a:r>
            <a:r>
              <a:rPr sz="1100" b="0">
                <a:solidFill>
                  <a:srgbClr val="232323"/>
                </a:solidFill>
                <a:latin typeface="Arial"/>
              </a:rPr>
              <a:t>Intelligent terrain HUD and active collision prevention in dense fog.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188720"/>
            <a:ext cx="18288" cy="5120640"/>
          </a:xfrm>
          <a:prstGeom prst="rect">
            <a:avLst/>
          </a:prstGeom>
          <a:solidFill>
            <a:srgbClr val="C3C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94960" y="1143000"/>
            <a:ext cx="1920240" cy="457200"/>
          </a:xfrm>
          <a:prstGeom prst="round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 u="sng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691640"/>
            <a:ext cx="6217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66.2% Memory Reduction: </a:t>
            </a:r>
            <a:r>
              <a:rPr sz="1100" b="0">
                <a:solidFill>
                  <a:srgbClr val="232323"/>
                </a:solidFill>
                <a:latin typeface="Arial"/>
              </a:rPr>
              <a:t>Stored active cells drop from 2,888 to 976 via foveated concentration.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4.8× Faster Latency: </a:t>
            </a:r>
            <a:r>
              <a:rPr sz="1100" b="0">
                <a:solidFill>
                  <a:srgbClr val="232323"/>
                </a:solidFill>
                <a:latin typeface="Arial"/>
              </a:rPr>
              <a:t>Down from 115.94 ms to 24.23 ms — exceeds 35 FPS real-time vehicle requirement.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Full 2.5D Elevation Profile: </a:t>
            </a:r>
            <a:r>
              <a:rPr sz="1100" b="0">
                <a:solidFill>
                  <a:srgbClr val="232323"/>
                </a:solidFill>
                <a:latin typeface="Arial"/>
              </a:rPr>
              <a:t>Preserves critical ground slope, curbs &amp; height without voxel clutter.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Verified Path Traversability: </a:t>
            </a:r>
            <a:r>
              <a:rPr sz="1100" b="0">
                <a:solidFill>
                  <a:srgbClr val="232323"/>
                </a:solidFill>
                <a:latin typeface="Arial"/>
              </a:rPr>
              <a:t>817 safe corridor cells verified with smooth 10 Hz Pure Pursuit steering.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94960" y="3657600"/>
          <a:ext cx="62179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Evaluation Metric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Uniform Grid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TeraPulse Foveated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Practical Advantage</a:t>
                      </a:r>
                    </a:p>
                  </a:txBody>
                  <a:tcPr anchor="ctr">
                    <a:solidFill>
                      <a:srgbClr val="006F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Active Stored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2,888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976 cells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66.2% RAM Saved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Compute Latency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115.94 ms (8.6 FPS)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24.23 ms (&gt;35 FPS)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4.8× Faster Control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Hardware Footprint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High-End Desktop GPU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Embedded CPU / Jetson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Low Power UGV Edge</a:t>
                      </a:r>
                    </a:p>
                  </a:txBody>
                  <a:tcPr anchor="ctr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Path Generation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Delayed Waypoints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10 Hz Dynamic Telemetry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6FC0"/>
                          </a:solidFill>
                          <a:latin typeface="Arial"/>
                        </a:defRPr>
                      </a:pPr>
                      <a:r>
                        <a:t>Safe Agile Steering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201168"/>
            <a:ext cx="1280160" cy="7772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063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000000"/>
                </a:solidFill>
                <a:latin typeface="Arial"/>
              </a:defRPr>
            </a:pPr>
            <a:r>
              <a:t>TERA</a:t>
            </a:r>
            <a:br/>
            <a:r>
              <a:t>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2148840" y="256032"/>
            <a:ext cx="7589520" cy="658368"/>
          </a:xfrm>
          <a:prstGeom prst="rect">
            <a:avLst/>
          </a:prstGeom>
          <a:solidFill>
            <a:srgbClr val="BFC0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page_1_1_Im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64592"/>
            <a:ext cx="1508760" cy="71289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06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rIns="548640"/>
          <a:lstStyle/>
          <a:p>
            <a:pPr algn="ctr">
              <a:defRPr sz="11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547104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Research Areas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43891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LiDAR Point Cloud Processing: </a:t>
            </a:r>
            <a:r>
              <a:rPr sz="1100" b="0">
                <a:solidFill>
                  <a:srgbClr val="232323"/>
                </a:solidFill>
                <a:latin typeface="Arial"/>
              </a:rPr>
              <a:t>Statistical outlier removal &amp; RANSAC ground plane fit.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2.5D Elevation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Robot-centric height &amp; slope mapping for rough terrain.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Semantic Segmentation: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Deep learning segmentation of drivable vs obstacle cells.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Autonomous Navigation: </a:t>
            </a:r>
            <a:r>
              <a:rPr sz="1100" b="0">
                <a:solidFill>
                  <a:srgbClr val="232323"/>
                </a:solidFill>
                <a:latin typeface="Arial"/>
              </a:rPr>
              <a:t>A* heuristic planning &amp; Pure Pursuit vehicle kinematics.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Adaptive Spatial Hashing: </a:t>
            </a:r>
            <a:r>
              <a:rPr sz="1100" b="0">
                <a:solidFill>
                  <a:srgbClr val="232323"/>
                </a:solidFill>
                <a:latin typeface="Arial"/>
              </a:rPr>
              <a:t>Foveated variable-resolution concentric indexing.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438912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4389120" cy="23774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KITTI Vision Suite: </a:t>
            </a:r>
            <a:r>
              <a:rPr sz="1100" b="0">
                <a:solidFill>
                  <a:srgbClr val="232323"/>
                </a:solidFill>
                <a:latin typeface="Arial"/>
              </a:rPr>
              <a:t>Geiger et al., Velodyne HDL-64E LiDAR benchmark.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ETH Zurich Mapping: </a:t>
            </a:r>
            <a:r>
              <a:rPr sz="1100" b="0">
                <a:solidFill>
                  <a:srgbClr val="232323"/>
                </a:solidFill>
                <a:latin typeface="Arial"/>
              </a:rPr>
              <a:t>P. Fankhauser et al. (IEEE IROS), Robot-Centric Elevation Mapping.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CMU Pure Pursuit: </a:t>
            </a:r>
            <a:r>
              <a:rPr sz="1100" b="0">
                <a:solidFill>
                  <a:srgbClr val="232323"/>
                </a:solidFill>
                <a:latin typeface="Arial"/>
              </a:rPr>
              <a:t>R. C. Coulter (Carnegie Mellon), Pure Pursuit Path Tracking.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Point Cloud ML: </a:t>
            </a:r>
            <a:r>
              <a:rPr sz="1100" b="0">
                <a:solidFill>
                  <a:srgbClr val="232323"/>
                </a:solidFill>
                <a:latin typeface="Arial"/>
              </a:rPr>
              <a:t>Q. Hu et al. (CVPR), RandLA-Net Point Cloud Segmentation.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Open-Source Tools: </a:t>
            </a:r>
            <a:r>
              <a:rPr sz="1100" b="0">
                <a:solidFill>
                  <a:srgbClr val="232323"/>
                </a:solidFill>
                <a:latin typeface="Arial"/>
              </a:rPr>
              <a:t>Open3D, PyTorch, NumPy, Flask REST APIs.</a:t>
            </a:r>
          </a:p>
        </p:txBody>
      </p:sp>
      <p:pic>
        <p:nvPicPr>
          <p:cNvPr id="11" name="Picture 10" descr="colored_research_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188720"/>
            <a:ext cx="6309360" cy="352150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80" y="4754880"/>
            <a:ext cx="6309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900" b="1" u="sng">
                <a:solidFill>
                  <a:srgbClr val="1F487C"/>
                </a:solidFill>
                <a:latin typeface="Arial"/>
              </a:defRPr>
            </a:pPr>
            <a:r>
              <a:t>Project Deliverables &amp; 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5166360"/>
            <a:ext cx="630936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Interactive Web Simulator: </a:t>
            </a:r>
            <a:r>
              <a:rPr sz="1050" b="0">
                <a:solidFill>
                  <a:srgbClr val="232323"/>
                </a:solidFill>
                <a:latin typeface="Arial"/>
              </a:rPr>
              <a:t>Flask REST API + 60 FPS HTML5 Canvas with live vehicle foveation.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Automated Test Suite: </a:t>
            </a:r>
            <a:r>
              <a:rPr sz="1050" b="0">
                <a:solidFill>
                  <a:srgbClr val="232323"/>
                </a:solidFill>
                <a:latin typeface="Arial"/>
              </a:rPr>
              <a:t>5/5 unit tests (tests/test_pipeline.py) passing in 4.0s.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GitHub Repository: </a:t>
            </a:r>
            <a:r>
              <a:rPr sz="1050" b="0">
                <a:solidFill>
                  <a:srgbClr val="232323"/>
                </a:solidFill>
                <a:latin typeface="Arial"/>
              </a:rPr>
              <a:t>github.com/AbhayVerma628/SIH26053_Lidar (Open Source MIT License).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• Telemetry &amp; Artifacts: </a:t>
            </a:r>
            <a:r>
              <a:rPr sz="1050" b="0">
                <a:solidFill>
                  <a:srgbClr val="232323"/>
                </a:solidFill>
                <a:latin typeface="Arial"/>
              </a:rPr>
              <a:t>5-panel dashboard, 10 Hz vehicle telemetry CSV &amp; planned A* waypoints.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