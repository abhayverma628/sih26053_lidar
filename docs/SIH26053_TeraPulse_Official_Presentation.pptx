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2760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Adaptive Foveated 2.5D Semantic Mapping for</a:t>
            </a:r>
            <a:br/>
            <a:r>
              <a:t>Autonomous Navigation</a:t>
            </a:r>
          </a:p>
        </p:txBody>
      </p:sp>
      <p:pic>
        <p:nvPicPr>
          <p:cNvPr id="4" name="Picture 3" descr="page_1_1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65836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Problem Statement ID –</a:t>
            </a:r>
            <a:r>
              <a:rPr sz="1380" b="0">
                <a:solidFill>
                  <a:srgbClr val="232323"/>
                </a:solidFill>
                <a:latin typeface="Arial"/>
              </a:rPr>
              <a:t> 26053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Problem Statement Title –</a:t>
            </a:r>
            <a:r>
              <a:rPr sz="1380" b="0">
                <a:solidFill>
                  <a:srgbClr val="232323"/>
                </a:solidFill>
                <a:latin typeface="Arial"/>
              </a:rPr>
              <a:t> Adaptive Foveated 2.5D Semantic Mapping from LiDAR Point Clouds for Autonomous Navigation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Theme –</a:t>
            </a:r>
            <a:r>
              <a:rPr sz="1380" b="0">
                <a:solidFill>
                  <a:srgbClr val="232323"/>
                </a:solidFill>
                <a:latin typeface="Arial"/>
              </a:rPr>
              <a:t> Smart Vehicles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PS Category –</a:t>
            </a:r>
            <a:r>
              <a:rPr sz="1380" b="0">
                <a:solidFill>
                  <a:srgbClr val="232323"/>
                </a:solidFill>
                <a:latin typeface="Arial"/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Team ID –</a:t>
            </a:r>
            <a:r>
              <a:rPr sz="1380" b="0">
                <a:solidFill>
                  <a:srgbClr val="232323"/>
                </a:solidFill>
                <a:latin typeface="Arial"/>
              </a:rPr>
              <a:t> 137735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Team Name –</a:t>
            </a:r>
            <a:r>
              <a:rPr sz="1380" b="0">
                <a:solidFill>
                  <a:srgbClr val="232323"/>
                </a:solidFill>
                <a:latin typeface="Arial"/>
              </a:rPr>
              <a:t> TeraPulse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Team Members –</a:t>
            </a:r>
            <a:r>
              <a:rPr sz="1380" b="0">
                <a:solidFill>
                  <a:srgbClr val="232323"/>
                </a:solidFill>
                <a:latin typeface="Arial"/>
              </a:rPr>
              <a:t> Abhay Verma (Team Leader), Lokendra Singh,
Yashvardhan Jain, Chetan Meena, Sachin Chaubey, Esha Verma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Institute –</a:t>
            </a:r>
            <a:r>
              <a:rPr sz="1380" b="0">
                <a:solidFill>
                  <a:srgbClr val="232323"/>
                </a:solidFill>
                <a:latin typeface="Arial"/>
              </a:rPr>
              <a:t> Indian Institute of Information Technology Bhopal</a:t>
            </a:r>
          </a:p>
        </p:txBody>
      </p:sp>
      <p:pic>
        <p:nvPicPr>
          <p:cNvPr id="6" name="Picture 5" descr="page_1_0_I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011680"/>
            <a:ext cx="4754880" cy="508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8840" y="182880"/>
            <a:ext cx="7589520" cy="822960"/>
          </a:xfrm>
          <a:prstGeom prst="rect">
            <a:avLst/>
          </a:prstGeom>
          <a:solidFill>
            <a:srgbClr val="BFC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Adaptive Foveated 2.5D Semantic Mapping</a:t>
            </a:r>
            <a:br/>
            <a:r>
              <a:t>for Autonomous Navigation</a:t>
            </a:r>
          </a:p>
        </p:txBody>
      </p:sp>
      <p:pic>
        <p:nvPicPr>
          <p:cNvPr id="4" name="Picture 3" descr="page_1_1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035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❖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03504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2.5D Semantic Elevation Map: </a:t>
            </a:r>
            <a:r>
              <a:rPr sz="1250" b="0">
                <a:solidFill>
                  <a:srgbClr val="232323"/>
                </a:solidFill>
                <a:latin typeface="Arial"/>
              </a:rPr>
              <a:t>Generated directly from raw LiDAR point clouds.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High-Precision Near Field: </a:t>
            </a:r>
            <a:r>
              <a:rPr sz="1250" b="0">
                <a:solidFill>
                  <a:srgbClr val="232323"/>
                </a:solidFill>
                <a:latin typeface="Arial"/>
              </a:rPr>
              <a:t>Fine resolution (0.25 m) near vehicle for critical steering.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Bandwidth-Saving Far Field: </a:t>
            </a:r>
            <a:r>
              <a:rPr sz="1250" b="0">
                <a:solidFill>
                  <a:srgbClr val="232323"/>
                </a:solidFill>
                <a:latin typeface="Arial"/>
              </a:rPr>
              <a:t>Lower resolution (0.75 m &amp; 2.0 m) for distant regions — cuts unnecessary compute.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Elevation &amp; Slope Awareness: </a:t>
            </a:r>
            <a:r>
              <a:rPr sz="1250" b="0">
                <a:solidFill>
                  <a:srgbClr val="232323"/>
                </a:solidFill>
                <a:latin typeface="Arial"/>
              </a:rPr>
              <a:t>Preserves terrain slopes, curbs &amp; ditches without full 3D voxels.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Real-Time Terrain Intelligence: </a:t>
            </a:r>
            <a:r>
              <a:rPr sz="1250" b="0">
                <a:solidFill>
                  <a:srgbClr val="232323"/>
                </a:solidFill>
                <a:latin typeface="Arial"/>
              </a:rPr>
              <a:t>Identifies drivable ground, static obstacles &amp; dynamic objects.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Autonomous Navigation Ready: </a:t>
            </a:r>
            <a:r>
              <a:rPr sz="1250" b="0">
                <a:solidFill>
                  <a:srgbClr val="232323"/>
                </a:solidFill>
                <a:latin typeface="Arial"/>
              </a:rPr>
              <a:t>Enables instant A* path planning &amp; Pure Pursuit motion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6035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❖ Innovation &amp; Uniqueness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60350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Foveated adaptive resolution </a:t>
            </a:r>
            <a:r>
              <a:rPr sz="1250" i="1">
                <a:solidFill>
                  <a:srgbClr val="232323"/>
                </a:solidFill>
                <a:latin typeface="Arial"/>
              </a:rPr>
              <a:t>focuses computational resources where they matter most, instead of processing the entire environment at the same resolution.</a:t>
            </a:r>
          </a:p>
          <a:p>
            <a:r>
              <a:rPr sz="1250" b="1">
                <a:solidFill>
                  <a:srgbClr val="000000"/>
                </a:solidFill>
                <a:latin typeface="Arial"/>
              </a:rPr>
              <a:t>• Measurable Impact: </a:t>
            </a:r>
            <a:r>
              <a:rPr sz="1250" b="0">
                <a:solidFill>
                  <a:srgbClr val="232323"/>
                </a:solidFill>
                <a:latin typeface="Arial"/>
              </a:rPr>
              <a:t>Slashes cell memory by 66.2% and cuts processing latency to 24.23 ms (&gt;35 FPS).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Foveated 2.5D Semantic Elevation Map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1600200"/>
            <a:ext cx="3840480" cy="3840480"/>
          </a:xfrm>
          <a:prstGeom prst="ellipse">
            <a:avLst/>
          </a:prstGeom>
          <a:solidFill>
            <a:srgbClr val="BEDCFA"/>
          </a:solidFill>
          <a:ln w="25400">
            <a:solidFill>
              <a:srgbClr val="64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2560320"/>
            <a:ext cx="1920240" cy="1920240"/>
          </a:xfrm>
          <a:prstGeom prst="ellipse">
            <a:avLst/>
          </a:prstGeom>
          <a:solidFill>
            <a:srgbClr val="006FC0"/>
          </a:solidFill>
          <a:ln w="25400">
            <a:solidFill>
              <a:srgbClr val="0A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3383280"/>
            <a:ext cx="457200" cy="274320"/>
          </a:xfrm>
          <a:prstGeom prst="roundRect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0" y="29260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9260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9640" y="34747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29800" y="34747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0" y="40233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402336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0" y="28346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5440" y="411480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0" y="2103120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07040" y="2103120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20" y="3474720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89920" y="3474720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63840" y="4754880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15600" y="4754880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35440" y="1874519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5120640"/>
            <a:ext cx="109728" cy="109728"/>
          </a:xfrm>
          <a:prstGeom prst="ellipse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5687568"/>
            <a:ext cx="320040" cy="219456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5660136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000000"/>
                </a:solidFill>
              </a:rPr>
              <a:t>High resolution near the vehicle </a:t>
            </a:r>
            <a:r>
              <a:rPr sz="1100">
                <a:solidFill>
                  <a:srgbClr val="232323"/>
                </a:solidFill>
              </a:rPr>
              <a:t>(near-field: 0.25 m bubble)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6016752"/>
            <a:ext cx="320040" cy="219456"/>
          </a:xfrm>
          <a:prstGeom prst="rect">
            <a:avLst/>
          </a:prstGeom>
          <a:solidFill>
            <a:srgbClr val="BE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989320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000000"/>
                </a:solidFill>
              </a:rPr>
              <a:t>Lower resolution for distant regions </a:t>
            </a:r>
            <a:r>
              <a:rPr sz="1100">
                <a:solidFill>
                  <a:srgbClr val="232323"/>
                </a:solidFill>
              </a:rPr>
              <a:t>(far-field: 0.75m &amp; 2.0m)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solidFill>
            <a:srgbClr val="BFC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page_1_1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2062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4206240" cy="493776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LiDAR Point Cloud</a:t>
            </a:r>
          </a:p>
        </p:txBody>
      </p:sp>
      <p:sp>
        <p:nvSpPr>
          <p:cNvPr id="9" name="Down Arrow 8"/>
          <p:cNvSpPr/>
          <p:nvPr/>
        </p:nvSpPr>
        <p:spPr>
          <a:xfrm>
            <a:off x="2542032" y="2203704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4206240" cy="493776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Preprocessing &amp; Noise Removal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542032" y="2935224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4206240" cy="493776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Semantic Understanding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542032" y="3666744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4206240" cy="493776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Foveated Adaptive Grid Generation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542032" y="4398264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4206240" cy="493776"/>
          </a:xfrm>
          <a:prstGeom prst="roundRect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2.5D Semantic Elevation Map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5129784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4206240" cy="493776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Real-Time Visualization &amp;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188720"/>
            <a:ext cx="64922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Technologies &amp;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45920"/>
            <a:ext cx="649224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Python, Open3D &amp; NumPy: </a:t>
            </a:r>
            <a:r>
              <a:rPr sz="1150" b="0">
                <a:solidFill>
                  <a:srgbClr val="232323"/>
                </a:solidFill>
                <a:latin typeface="Arial"/>
              </a:rPr>
              <a:t>Point cloud preprocessing, voxelization &amp; spatial hashing.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Deep Learning: </a:t>
            </a:r>
            <a:r>
              <a:rPr sz="1150" b="0">
                <a:solidFill>
                  <a:srgbClr val="232323"/>
                </a:solidFill>
                <a:latin typeface="Arial"/>
              </a:rPr>
              <a:t>Semantic terrain classification (Ground, Static Obstacles, Dynamic Vehicles).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A* Search &amp; Pure Pursuit: </a:t>
            </a:r>
            <a:r>
              <a:rPr sz="1150" b="0">
                <a:solidFill>
                  <a:srgbClr val="232323"/>
                </a:solidFill>
                <a:latin typeface="Arial"/>
              </a:rPr>
              <a:t>Collision-free path planning &amp; smooth 10 Hz vehicle steering kinematics.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Interactive Web Dashboard: </a:t>
            </a:r>
            <a:r>
              <a:rPr sz="1150" b="0">
                <a:solidFill>
                  <a:srgbClr val="232323"/>
                </a:solidFill>
                <a:latin typeface="Arial"/>
              </a:rPr>
              <a:t>Flask REST API, 60 FPS HTML5 Canvas with moving foveation bubble.</a:t>
            </a:r>
          </a:p>
        </p:txBody>
      </p:sp>
      <p:pic>
        <p:nvPicPr>
          <p:cNvPr id="21" name="Picture 20" descr="navigati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154680"/>
            <a:ext cx="5146935" cy="3108960"/>
          </a:xfrm>
          <a:prstGeom prst="rect">
            <a:avLst/>
          </a:prstGeom>
          <a:ln w="12700">
            <a:solidFill>
              <a:srgbClr val="BFC0B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solidFill>
            <a:srgbClr val="BFC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page_1_1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20116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12064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Standard Datasets: </a:t>
            </a:r>
            <a:r>
              <a:rPr sz="1150" b="0">
                <a:solidFill>
                  <a:srgbClr val="232323"/>
                </a:solidFill>
                <a:latin typeface="Arial"/>
              </a:rPr>
              <a:t>Uses widely available LiDAR point cloud datasets &amp; open-source tools.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Rapid Development: </a:t>
            </a:r>
            <a:r>
              <a:rPr sz="1150" b="0">
                <a:solidFill>
                  <a:srgbClr val="232323"/>
                </a:solidFill>
                <a:latin typeface="Arial"/>
              </a:rPr>
              <a:t>Python, Open3D, and PyTorch enable agile modular prototyping.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Low-Power Efficiency: </a:t>
            </a:r>
            <a:r>
              <a:rPr sz="1150" b="0">
                <a:solidFill>
                  <a:srgbClr val="232323"/>
                </a:solidFill>
                <a:latin typeface="Arial"/>
              </a:rPr>
              <a:t>Adaptive resolution drastically reduces memory &amp; compute requirements.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Modular Pipeline: </a:t>
            </a:r>
            <a:r>
              <a:rPr sz="1150" b="0">
                <a:solidFill>
                  <a:srgbClr val="232323"/>
                </a:solidFill>
                <a:latin typeface="Arial"/>
              </a:rPr>
              <a:t>Components tested independently with 5/5 automated unit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20116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512064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Heavy Data Stream: </a:t>
            </a:r>
            <a:r>
              <a:rPr sz="1150" b="0">
                <a:solidFill>
                  <a:srgbClr val="232323"/>
                </a:solidFill>
                <a:latin typeface="Arial"/>
              </a:rPr>
              <a:t>Real-time processing of large LiDAR point clouds at 10–20 Hz.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Off-Road Accuracy: </a:t>
            </a:r>
            <a:r>
              <a:rPr sz="1150" b="0">
                <a:solidFill>
                  <a:srgbClr val="232323"/>
                </a:solidFill>
                <a:latin typeface="Arial"/>
              </a:rPr>
              <a:t>Accurate semantic classification in unstructured off-road scenes.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Underpasses &amp; Tunnels: </a:t>
            </a:r>
            <a:r>
              <a:rPr sz="1150" b="0">
                <a:solidFill>
                  <a:srgbClr val="232323"/>
                </a:solidFill>
                <a:latin typeface="Arial"/>
              </a:rPr>
              <a:t>Avoiding false-positive obstacle detection for bridge ceilings.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Detail Retention: </a:t>
            </a:r>
            <a:r>
              <a:rPr sz="1150" b="0">
                <a:solidFill>
                  <a:srgbClr val="232323"/>
                </a:solidFill>
                <a:latin typeface="Arial"/>
              </a:rPr>
              <a:t>Maintaining critical safety clearance while reducing distant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188720"/>
            <a:ext cx="18288" cy="5120640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24688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Mitigation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91640"/>
            <a:ext cx="548640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Foveated Attention: </a:t>
            </a:r>
            <a:r>
              <a:rPr sz="1150" b="0">
                <a:solidFill>
                  <a:srgbClr val="232323"/>
                </a:solidFill>
                <a:latin typeface="Arial"/>
              </a:rPr>
              <a:t>Variable-resolution mapping concentrates compute in near-field (24.23 ms).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SOR &amp; RANSAC Fit: </a:t>
            </a:r>
            <a:r>
              <a:rPr sz="1150" b="0">
                <a:solidFill>
                  <a:srgbClr val="232323"/>
                </a:solidFill>
                <a:latin typeface="Arial"/>
              </a:rPr>
              <a:t>Statistical Outlier Removal &amp; ground fit eliminate dust &amp; sensor reflections.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Vertical Clearance: </a:t>
            </a:r>
            <a:r>
              <a:rPr sz="1150" b="0">
                <a:solidFill>
                  <a:srgbClr val="232323"/>
                </a:solidFill>
                <a:latin typeface="Arial"/>
              </a:rPr>
              <a:t>Clearance filter ignores points &gt;2.2 m, enabling safe tunnel traversal.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• Proven Benchmark: </a:t>
            </a:r>
            <a:r>
              <a:rPr sz="1150" b="0">
                <a:solidFill>
                  <a:srgbClr val="232323"/>
                </a:solidFill>
                <a:latin typeface="Arial"/>
              </a:rPr>
              <a:t>Benchmarked on 20,672 points at &gt;35 FPS with zero crash failures.</a:t>
            </a:r>
          </a:p>
        </p:txBody>
      </p:sp>
      <p:pic>
        <p:nvPicPr>
          <p:cNvPr id="14" name="Picture 13" descr="clean_car_lidar_s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429000"/>
            <a:ext cx="5029200" cy="29213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solidFill>
            <a:srgbClr val="BFC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page_1_1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920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38912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Tactical UGV Navigation: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Supports safer and faster autonomous military navigation.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Critical Near-Field Safety: </a:t>
            </a:r>
            <a:r>
              <a:rPr sz="1100" b="0">
                <a:solidFill>
                  <a:srgbClr val="232323"/>
                </a:solidFill>
                <a:latin typeface="Arial"/>
              </a:rPr>
              <a:t>Sub-meter precision in safety-critical perimeter around vehicle.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Zero-Visibility Ops: </a:t>
            </a:r>
            <a:r>
              <a:rPr sz="1100" b="0">
                <a:solidFill>
                  <a:srgbClr val="232323"/>
                </a:solidFill>
                <a:latin typeface="Arial"/>
              </a:rPr>
              <a:t>Active LiDAR penetrates smoke, dust, fog &amp; battlefield darkness.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Terrain Intelligence: </a:t>
            </a:r>
            <a:r>
              <a:rPr sz="1100" b="0">
                <a:solidFill>
                  <a:srgbClr val="232323"/>
                </a:solidFill>
                <a:latin typeface="Arial"/>
              </a:rPr>
              <a:t>Real-time elevation slope, ditches &amp; surface roughness understanding.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210312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438912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Defence &amp; Tactical UGVs: </a:t>
            </a:r>
            <a:r>
              <a:rPr sz="1100" b="0">
                <a:solidFill>
                  <a:srgbClr val="232323"/>
                </a:solidFill>
                <a:latin typeface="Arial"/>
              </a:rPr>
              <a:t>Logistics convoys, perimeter patrols, scout rovers &amp; minefield recon.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Off-Road Autonomous Rovers: </a:t>
            </a:r>
            <a:r>
              <a:rPr sz="1100" b="0">
                <a:solidFill>
                  <a:srgbClr val="232323"/>
                </a:solidFill>
                <a:latin typeface="Arial"/>
              </a:rPr>
              <a:t>Search-and-rescue rovers in disaster zones, agricultural robotics.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Driver Assistance (ADAS): </a:t>
            </a:r>
            <a:r>
              <a:rPr sz="1100" b="0">
                <a:solidFill>
                  <a:srgbClr val="232323"/>
                </a:solidFill>
                <a:latin typeface="Arial"/>
              </a:rPr>
              <a:t>Intelligent terrain HUD and active collision prevention in dense fog.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188720"/>
            <a:ext cx="18288" cy="5120640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1143000"/>
            <a:ext cx="1920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91640"/>
            <a:ext cx="62179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66.2% Memory Reduction: </a:t>
            </a:r>
            <a:r>
              <a:rPr sz="1100" b="0">
                <a:solidFill>
                  <a:srgbClr val="232323"/>
                </a:solidFill>
                <a:latin typeface="Arial"/>
              </a:rPr>
              <a:t>Stored active cells drop from 2,888 to 976 via foveated concentration.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4.8× Faster Latency: </a:t>
            </a:r>
            <a:r>
              <a:rPr sz="1100" b="0">
                <a:solidFill>
                  <a:srgbClr val="232323"/>
                </a:solidFill>
                <a:latin typeface="Arial"/>
              </a:rPr>
              <a:t>Down from 115.94 ms to 24.23 ms — exceeds 35 FPS real-time vehicle requirement.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Full 2.5D Elevation Profile: </a:t>
            </a:r>
            <a:r>
              <a:rPr sz="1100" b="0">
                <a:solidFill>
                  <a:srgbClr val="232323"/>
                </a:solidFill>
                <a:latin typeface="Arial"/>
              </a:rPr>
              <a:t>Preserves critical ground slope, curbs &amp; height without voxel clutter.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Verified Path Traversability: </a:t>
            </a:r>
            <a:r>
              <a:rPr sz="1100" b="0">
                <a:solidFill>
                  <a:srgbClr val="232323"/>
                </a:solidFill>
                <a:latin typeface="Arial"/>
              </a:rPr>
              <a:t>817 safe corridor cells verified with smooth 10 Hz Pure Pursuit steering.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4960" y="3657600"/>
          <a:ext cx="6217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Uniform Grid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TeraPulse Foveated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Practical Advantage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 Stored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2,888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976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66.2% RAM Saved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Compute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115.94 ms (8.6 FPS)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24.23 ms (&gt;35 FPS)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4.8× Faster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Hardware Footprint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High-End Desktop GPU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Embedded CPU / Jetson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Low Power UGV Edge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Path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Delayed Waypoints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10 Hz Dynamic 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Safe Agile Steering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solidFill>
            <a:srgbClr val="BFC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page_1_1_I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3891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Research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3891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LiDAR Point Cloud Processing: </a:t>
            </a:r>
            <a:r>
              <a:rPr sz="1100" b="0">
                <a:solidFill>
                  <a:srgbClr val="232323"/>
                </a:solidFill>
                <a:latin typeface="Arial"/>
              </a:rPr>
              <a:t>Statistical outlier removal &amp; RANSAC ground plane fit.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2.5D Elevation Mapping: </a:t>
            </a:r>
            <a:r>
              <a:rPr sz="1100" b="0">
                <a:solidFill>
                  <a:srgbClr val="232323"/>
                </a:solidFill>
                <a:latin typeface="Arial"/>
              </a:rPr>
              <a:t>Robot-centric height &amp; slope mapping for rough terrain.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Semantic Segmentation: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Deep learning segmentation of drivable vs obstacle cells.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Autonomous Navigation: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A* heuristic planning &amp; Pure Pursuit vehicle kinematics.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Adaptive Spatial Hashing: </a:t>
            </a:r>
            <a:r>
              <a:rPr sz="1100" b="0">
                <a:solidFill>
                  <a:srgbClr val="232323"/>
                </a:solidFill>
                <a:latin typeface="Arial"/>
              </a:rPr>
              <a:t>Foveated variable-resolution concentric indexing.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43891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438912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KITTI Vision Suite: </a:t>
            </a:r>
            <a:r>
              <a:rPr sz="1100" b="0">
                <a:solidFill>
                  <a:srgbClr val="232323"/>
                </a:solidFill>
                <a:latin typeface="Arial"/>
              </a:rPr>
              <a:t>Geiger et al., Velodyne HDL-64E LiDAR benchmark.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ETH Zurich Mapping: </a:t>
            </a:r>
            <a:r>
              <a:rPr sz="1100" b="0">
                <a:solidFill>
                  <a:srgbClr val="232323"/>
                </a:solidFill>
                <a:latin typeface="Arial"/>
              </a:rPr>
              <a:t>P. Fankhauser et al. (IEEE IROS), Robot-Centric Elevation Mapping.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CMU Pure Pursuit: </a:t>
            </a:r>
            <a:r>
              <a:rPr sz="1100" b="0">
                <a:solidFill>
                  <a:srgbClr val="232323"/>
                </a:solidFill>
                <a:latin typeface="Arial"/>
              </a:rPr>
              <a:t>R. C. Coulter (Carnegie Mellon), Pure Pursuit Path Tracking.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Point Cloud ML: </a:t>
            </a:r>
            <a:r>
              <a:rPr sz="1100" b="0">
                <a:solidFill>
                  <a:srgbClr val="232323"/>
                </a:solidFill>
                <a:latin typeface="Arial"/>
              </a:rPr>
              <a:t>Q. Hu et al. (CVPR), RandLA-Net Point Cloud Segmentation.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Open-Source Tools: </a:t>
            </a:r>
            <a:r>
              <a:rPr sz="1100" b="0">
                <a:solidFill>
                  <a:srgbClr val="232323"/>
                </a:solidFill>
                <a:latin typeface="Arial"/>
              </a:rPr>
              <a:t>Open3D, PyTorch, NumPy, Flask REST APIs.</a:t>
            </a:r>
          </a:p>
        </p:txBody>
      </p:sp>
      <p:pic>
        <p:nvPicPr>
          <p:cNvPr id="11" name="Picture 10" descr="colored_research_pipel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88720"/>
            <a:ext cx="6309360" cy="35215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4754880"/>
            <a:ext cx="63093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Project Deliverables &amp;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166360"/>
            <a:ext cx="630936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Interactive Web Simulator: </a:t>
            </a:r>
            <a:r>
              <a:rPr sz="1050" b="0">
                <a:solidFill>
                  <a:srgbClr val="232323"/>
                </a:solidFill>
                <a:latin typeface="Arial"/>
              </a:rPr>
              <a:t>Flask REST API + 60 FPS HTML5 Canvas with live vehicle foveation.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Automated Test Suite: </a:t>
            </a:r>
            <a:r>
              <a:rPr sz="1050" b="0">
                <a:solidFill>
                  <a:srgbClr val="232323"/>
                </a:solidFill>
                <a:latin typeface="Arial"/>
              </a:rPr>
              <a:t>5/5 unit tests (tests/test_pipeline.py) passing in 4.0s.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GitHub Repository: </a:t>
            </a:r>
            <a:r>
              <a:rPr sz="1050" b="0">
                <a:solidFill>
                  <a:srgbClr val="232323"/>
                </a:solidFill>
                <a:latin typeface="Arial"/>
              </a:rPr>
              <a:t>github.com/AbhayVerma628/SIH26053_Lidar (Open Source MIT License).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Telemetry &amp; Artifacts: </a:t>
            </a:r>
            <a:r>
              <a:rPr sz="1050" b="0">
                <a:solidFill>
                  <a:srgbClr val="232323"/>
                </a:solidFill>
                <a:latin typeface="Arial"/>
              </a:rPr>
              <a:t>5-panel dashboard, 10 Hz vehicle telemetry CSV &amp; planned A* waypoints.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