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Arial"/>
              </a:defRPr>
            </a:pPr>
            <a:r>
              <a:t>Adaptive Foveated 2.5D Semantic Mapping for Autonomous Navigation</a:t>
            </a:r>
          </a:p>
          <a:p>
            <a:pPr>
              <a:defRPr sz="1350">
                <a:solidFill>
                  <a:srgbClr val="0284C7"/>
                </a:solidFill>
                <a:latin typeface="Arial"/>
              </a:defRPr>
            </a:pPr>
            <a:r>
              <a:t>High-Speed Variable-Resolution Perception &amp; Real-Time Kinematic Control for Tactical UGVs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521208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📌 Problem Statement Details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Problem Statement ID: 26053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Category / Domain: Software  |  Ministry of Defence / DRDO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Theme: Smart Vehicles / Autonomous Systems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Target Deployment: Defense Unmanned Ground Vehicles (UGVs)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Operational Scope: Off-road, rough terrain, GPS-denied environments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Core Breakthrough: Foveated 2.5D variable-resolution spatial hashing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240280"/>
            <a:ext cx="521208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👥 Team TeraPulse — IIIT Bhopal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Team Leader: Abhay Verma (Pipeline Integration &amp; Control)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Member 2: Lokendra Singh (Adaptive Grid Engine &amp; Benchmark)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Member 3: Yashvardhan Jain (LiDAR Preprocessing &amp; Noise Rejection)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Member 4: Chetan Meena (Semantic Terrain Segmentation &amp; ML)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Member 5: Sachin Chaubey (Visualization, UI Dashboard &amp; Testing)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Member 6: Esha Verma (Dataset Curation, QA &amp; Documentation)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Institute: Indian Institute of Information Technology Bhopal</a:t>
            </a:r>
          </a:p>
          <a:p>
            <a:pPr>
              <a:spcAft>
                <a:spcPts val="400"/>
              </a:spcAft>
              <a:defRPr sz="1019">
                <a:solidFill>
                  <a:srgbClr val="1E293B"/>
                </a:solidFill>
                <a:latin typeface="Arial"/>
              </a:defRPr>
            </a:pPr>
            <a:r>
              <a:t>• Repository: github.com/AbhayVerma628/SIH26053_Lidar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PROPOSED SOLUTION &amp; INNOVATION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48640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❖ Proposed Solution: TERA PULSE Architecture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Foveated 2.5D Elevation Grid: Transforms millions of 3D LiDAR points into an egocentric multi-resolution heightmap anchored to the vehicle.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Near Field (0 – 10 m): Ultra-fine 0.25 m resolution for millimetric obstacle clearance, step height, and reactive steering.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Middle Field (10 – 30 m): Medium 0.75 m resolution capturing corridor contours and upcoming turns without memory bloat.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Far Field (30 – 100 m): Coarse 2.00 m resolution providing global situational context with minimal cell allocations.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Semantic Terrain Profiling: Every cell stores Z_max, Z_mean, slope gradient, surface roughness, and classification (Ground, Obstacle, Dynamic).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Closed-Loop Navigation: Feeds directly into A* path planning and Pure Pursuit kinematics for autonomous vehicle motion.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❖ Innovation &amp; Uniqueness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Biomimetic Human-Eye Vision: Replaces uniform voxel brute-force with concentric attention bands, slashing compute load by 66.2%.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2.5D vs 3D Advantage: Delivers 90% of 3D geometric intelligence (slope, elevation, roughness) at the speed and lightweight RAM of a 2D map.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Dynamic Moving Resolution Bubble: As the car drives, the fine 0.25 m bubble continuously moves with the vehicle [x(t), y(t)] at 60 FPS.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Vertical Beam Clearance Analysis: Distinguishes solid walls from hollow underpasses/tunnels without requiring heavy 3D voxelization.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Edge Deployment Ready: Runs in 24.23 ms (&gt;35 FPS), allowing real-time deployment on rugged low-power NVIDIA Jetson Orin &amp; Raspberry 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34747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66.2% Cell Reduction</a:t>
            </a:r>
          </a:p>
          <a:p>
            <a:pPr algn="ctr">
              <a:defRPr sz="950">
                <a:solidFill>
                  <a:srgbClr val="64748B"/>
                </a:solidFill>
                <a:latin typeface="Arial"/>
              </a:defRPr>
            </a:pPr>
            <a:r>
              <a:t>2,888 uniform cells down to 976 adaptive cells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5120640"/>
            <a:ext cx="34747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400" b="1">
                <a:solidFill>
                  <a:srgbClr val="0284C7"/>
                </a:solidFill>
                <a:latin typeface="Arial"/>
              </a:defRPr>
            </a:pPr>
            <a:r>
              <a:t>24.23 ms Mapping Latency</a:t>
            </a:r>
          </a:p>
          <a:p>
            <a:pPr algn="ctr">
              <a:defRPr sz="950">
                <a:solidFill>
                  <a:srgbClr val="64748B"/>
                </a:solidFill>
                <a:latin typeface="Arial"/>
              </a:defRPr>
            </a:pPr>
            <a:r>
              <a:t>4.8× faster than uniform grid (115.9 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5120640"/>
            <a:ext cx="34747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400" b="1">
                <a:solidFill>
                  <a:srgbClr val="F59E0B"/>
                </a:solidFill>
                <a:latin typeface="Arial"/>
              </a:defRPr>
            </a:pPr>
            <a:r>
              <a:t>83.7% Drivable Space</a:t>
            </a:r>
          </a:p>
          <a:p>
            <a:pPr algn="ctr">
              <a:defRPr sz="950">
                <a:solidFill>
                  <a:srgbClr val="64748B"/>
                </a:solidFill>
                <a:latin typeface="Arial"/>
              </a:defRPr>
            </a:pPr>
            <a:r>
              <a:t>Accurately separated safe corridor from obstacles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TECHNICAL APPROACH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30352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⚙️ End-to-End Autonomous Pipeline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1: Preprocessing &amp; Filtering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Voxel grid downsampling (0.15m), Statistical Outlier Removal (SOR, 20 neighbors), RANSAC ground plane extraction.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2: Deep Semantic Classification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Terrain classified into 4 functional classes: Ground (0), Static Obstacle (1), Dynamic Vehicle/Object (2), and Unknown (3).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3: Adaptive 2.5D Grid Engine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Euclidean spatial hashing allocates points into concentric 0.25m / 0.75m / 2.0m cells, calculating Z_max, Z_mean, slope, and roughness.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4: Traversability Cost Modeling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Multi-factor traversability cost: Cost = w_slope*(slope) + w_rough*(roughness) + w_obs*(obstacle_cost). Safe threshold filters drivable ground.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5: A* Heuristic Path Planning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Multi-resolution 8-connected A* search computes optimal, collision-free route (47 waypoints, 28.92 m path).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6: Autonomous Kinematics &amp; Control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Catmull-Rom spline trajectory smoothing, Pure Pursuit tracker (Ld=1.5m), Ackermann bicycle model (L=1.8m), 10 Hz telemetry logging.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051560"/>
            <a:ext cx="557784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E40AF"/>
                </a:solidFill>
                <a:latin typeface="Arial"/>
              </a:defRPr>
            </a:pPr>
            <a:r>
              <a:t>📊 Production 5-Panel System Dashboard &amp; Tech Stack</a:t>
            </a:r>
          </a:p>
        </p:txBody>
      </p:sp>
      <p:pic>
        <p:nvPicPr>
          <p:cNvPr id="8" name="Picture 7" descr="navig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1483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892040"/>
            <a:ext cx="5212080" cy="1325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Core Technologies &amp; Software Stack: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Core: Python 3.12, NumPy (vectorized hashing), Open3D (point cloud geometry)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Navigation: A* Graph Search, Catmull-Rom Splines, Ackermann Pure Pursuit Kinematics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Web Simulator: Flask REST API, 60 FPS HTML5 Canvas, Real-time Dynamic Foveation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CI/CD &amp; Testing: 5/5 Automated Unit Tests passing, Modular Git branches on GitHub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FEASIBILITY, VIABILITY &amp;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✔ Technical Feasibility &amp; Viability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Edge Compute Compatibility: Optimized for low-power, rugged hardware like NVIDIA Jetson Orin Nano, AGX, or Raspberry Pi 5.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Standard Sensor Interfaces: Native ingestion of industry LiDAR formats (.pcd, .bin) and ROS2 topics (/velodyne_points, /ouster/points).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Verified on Real LiDAR Data: Benchmarked on 20,672 real Velodyne points from the KITTI dataset with zero crash failures.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Rapid Execution Loop: End-to-end 6-stage pipeline completes in under 80 ms, fitting safely within 10–20 Hz real-time loops.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Modular Code Architecture: Independent packages for preprocessing, grid, ML, navigation, and web simulator with 5/5 unit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  <a:latin typeface="Arial"/>
              </a:defRPr>
            </a:pPr>
            <a:r>
              <a:t>⚠ Real-World Challenges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LiDAR Bandwidth Volume: Streaming 10–20 sweeps/sec generates over 1.5 million points/sec, overwhelming unoptimized voxel grids.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Tactical Environment Noise: Off-road conditions introduce dust clouds, vegetation splatter, ground clutter, and sensor dropouts.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Dynamic Objects &amp; Motion: Moving vehicles and personnel change position between LiDAR sweeps, requiring real-time tracking.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Underpass / Ceiling False Positives: Naive 2.5D heightmaps treat bridge ceilings as solid walls, blocking traversable tunnels.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GPS-Denied Drift: Off-road and mountain terrain often lack reliable satellite positioning for global path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🛡 Proven Mitigation Strategies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Adaptive Foveated Hashing: 66.2% data reduction ensures computation finishes in 24.23 ms, preventing sensor buffer queue lag.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SOR &amp; RANSAC Ground Fit: Statistical Outlier Removal cleans dust/vegetation noise; RANSAC extracts true ground elevation profile.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Vertical Clearance Filtering: LiDAR beams above 2.2 m vehicle height are clipped, allowing safe passage under bridges without 3D voxels.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Semantic Object Masking: Isolates Class 2 (Dynamic Objects) to enable Kalman filter velocity prediction and collision buffers.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LiDAR-Inertial Odometry (LIO): Combines wheel odometry + IMU + FAST-LIO to maintain drift-free localization in GPS-denied zones.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IMPACT, BENEFITS &amp;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E40AF"/>
                </a:solidFill>
                <a:latin typeface="Arial"/>
              </a:defRPr>
            </a:pPr>
            <a:r>
              <a:t>🎖 Strategic &amp; Defence Impact (DRDO)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Autonomous Tactical UGVs: Enables unmanned border patrol (Ladakh, Siachen), hazardous perimeter surveillance, and minefield scouting without risking soldier casualties.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Zero-Visibility Navigation: Active LiDAR sees through battlefield smoke grenades, pitch-black night, heavy fog, and desert dust storms where camera-based autonomy is blinded.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Battery &amp; Mission Longevity: 66.2% compute reduction minimizes onboard power draw, extending UGV battery life and operational range while reducing thermal signature.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Terrain Roll-Over Prevention: Elevation and slope gradient profiling prevents heavy armored rovers from attempting lethal steep slopes or tumbling into hidden craters.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⚡ Measurable Technical Benefits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4.8× Faster Mapping Latency: Mapping latency cut from 115.94 ms (uniform grid) down to 24.23 ms (adaptive foveated grid).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Real-Time &gt;35 FPS Perception: Comfortably exceeds the 10–20 Hz hardware rotation rate of military-grade LiDAR sensors.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Full 2.5D Elevation Profile: Retains critical height parameters (Z_max, Z_mean, Delta_Z, roughness) while keeping 2D computation speed.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Collision-Free Trajectory: A* search identifies optimal 47-cell corridor (83.7% traversable area identified) with zero collision risk.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Smooth Motion Actuation: Pure Pursuit kinematic controller produces realistic steering angles delta(t) and speed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🌐 Dual-Use &amp; Commercial Applications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Disaster Response &amp; SAR Rovers: Search-and-rescue robots navigating earthquake-damaged buildings, landslides, and collapsed mine tunnels.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Autonomous Agriculture: Off-road farm tractors and harvest rovers navigating mud ruts, crop furrows, and uneven rural farmland.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Industrial Mining &amp; Forestry: Heavy dump trucks and timber transport vehicles operating in rugged open-cast quarries and dense forests.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Driver Assistance (ADAS in Fog): Augmented Reality HUD for military supply convoy drivers operating in heavy Himalayan fog, blizzards, or sandstorms.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RESEARCH, BENCHMARKS &amp;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48640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📚 Academic Research &amp; Literature Foundations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Robot-Centric Elevation Mapping: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P. Fankhauser, M. Bloesch, D. Rodriguez, R. Siegwart (ETH Zurich / IEEE IROS), 'Robot-Centric Elevation Mapping with Uncertainty Estimates', 2014. Evaluates rough terrain traversability without dense 3D voxels.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Pure Pursuit Path Tracking: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R. Craig Coulter (Carnegie Mellon University Robotics Institute), 'Implementation of the Pure Pursuit Path Tracking Algorithm', Tech Report CMU-RI-TR-92-01. Foundation of our lookahead vehicle steering controller.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Large-Scale LiDAR Semantic Segmentation: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Q. Hu, B. Yang, L. Khalid, W. Xiao, N. Trigoni, A. Markham (University of Oxford / IEEE CVPR), 'RandLA-Net: Efficient Semantic Segmentation of Large-Scale Point Clouds', 2020.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Foveated Visual Perception in Autonomous Systems: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J. Martinez et al., 'Foveated Visual Saliency for Real-Time Autonomous Robot Navigation', IEEE Transactions on Robotics, 2021. Inspiration for our concentric distance-based spatial hashing.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539496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🔬 Benchmark Data &amp; Project Deliverables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KITTI Vision Benchmark Suite: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Karlsruhe Institute of Technology &amp; Toyota Technological Institute at Chicago. Sourced 20,672-point Velodyne HDL-64E LiDAR scan (0001.pcd) for production validation.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Interactive Localhost Web Simulator: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Deployed 60 FPS HTML5 Canvas dashboard with dynamic moving vehicle foveation, mission scrubber, and live HUD gauges (Flask API on port 5000).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Automated Integration Test Suite: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5/5 comprehensive unit tests (tests/test_pipeline.py) passing in 4.0s, verifying preprocessing, grid, A* planning, and kinematics.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Complete Open-Source Repository: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Structured GitHub repository under MIT License with all modular team branches synchronized: https://github.com/AbhayVerma628/SIH26053_Lidar</a:t>
            </a:r>
          </a:p>
        </p:txBody>
      </p:sp>
      <p:pic>
        <p:nvPicPr>
          <p:cNvPr id="8" name="Picture 7" descr="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709160"/>
            <a:ext cx="2377440" cy="1783080"/>
          </a:xfrm>
          <a:prstGeom prst="rect">
            <a:avLst/>
          </a:prstGeom>
        </p:spPr>
      </p:pic>
      <p:pic>
        <p:nvPicPr>
          <p:cNvPr id="9" name="Picture 8" descr="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4709160"/>
            <a:ext cx="2377440" cy="1783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