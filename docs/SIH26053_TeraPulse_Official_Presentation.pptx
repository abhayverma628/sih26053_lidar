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jpg"/><Relationship Id="rId4" Type="http://schemas.openxmlformats.org/officeDocument/2006/relationships/hyperlink" Target="https://abhayverma628.github.io/SIH26053_Lidar/" TargetMode="External"/><Relationship Id="rId5" Type="http://schemas.openxmlformats.org/officeDocument/2006/relationships/hyperlink" Target="https://github.com/AbhayVerma628/SIH26053_Lidar" TargetMode="External"/><Relationship Id="rId6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92608"/>
            <a:ext cx="9144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1E2760"/>
                </a:solidFill>
                <a:latin typeface="Times New Roman"/>
              </a:defRPr>
            </a:pPr>
            <a:r>
              <a:t>SMART INDIA HACKATHON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841248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700" b="1">
                <a:solidFill>
                  <a:srgbClr val="006FC0"/>
                </a:solidFill>
                <a:latin typeface="Arial"/>
              </a:defRPr>
            </a:pPr>
            <a:r>
              <a:t>Adaptive Foveated 2.5D Semantic Mapping for Autonomous Navigation</a:t>
            </a:r>
          </a:p>
        </p:txBody>
      </p:sp>
      <p:pic>
        <p:nvPicPr>
          <p:cNvPr id="4" name="Picture 3" descr="si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0" y="164592"/>
            <a:ext cx="1508760" cy="71289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1691640"/>
            <a:ext cx="6858000" cy="4846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</a:pPr>
            <a:r>
              <a:rPr sz="1380" b="1">
                <a:solidFill>
                  <a:srgbClr val="000000"/>
                </a:solidFill>
                <a:latin typeface="Arial"/>
              </a:rPr>
              <a:t>• Problem Statement ID -</a:t>
            </a:r>
            <a:r>
              <a:rPr sz="1380" b="0">
                <a:solidFill>
                  <a:srgbClr val="232323"/>
                </a:solidFill>
                <a:latin typeface="Arial"/>
              </a:rPr>
              <a:t> 26053</a:t>
            </a:r>
          </a:p>
          <a:p>
            <a:pPr>
              <a:spcAft>
                <a:spcPts val="800"/>
              </a:spcAft>
            </a:pPr>
            <a:r>
              <a:rPr sz="1380" b="1">
                <a:solidFill>
                  <a:srgbClr val="000000"/>
                </a:solidFill>
                <a:latin typeface="Arial"/>
              </a:rPr>
              <a:t>• Problem Statement Title -</a:t>
            </a:r>
            <a:r>
              <a:rPr sz="1380" b="0">
                <a:solidFill>
                  <a:srgbClr val="232323"/>
                </a:solidFill>
                <a:latin typeface="Arial"/>
              </a:rPr>
              <a:t> Adaptive Foveated 2.5D Semantic Mapping from LiDAR Point Clouds for Autonomous Navigation</a:t>
            </a:r>
          </a:p>
          <a:p>
            <a:pPr>
              <a:spcAft>
                <a:spcPts val="800"/>
              </a:spcAft>
            </a:pPr>
            <a:r>
              <a:rPr sz="1380" b="1">
                <a:solidFill>
                  <a:srgbClr val="000000"/>
                </a:solidFill>
                <a:latin typeface="Arial"/>
              </a:rPr>
              <a:t>• Theme -</a:t>
            </a:r>
            <a:r>
              <a:rPr sz="1380" b="0">
                <a:solidFill>
                  <a:srgbClr val="232323"/>
                </a:solidFill>
                <a:latin typeface="Arial"/>
              </a:rPr>
              <a:t> Smart Vehicles</a:t>
            </a:r>
          </a:p>
          <a:p>
            <a:pPr>
              <a:spcAft>
                <a:spcPts val="800"/>
              </a:spcAft>
            </a:pPr>
            <a:r>
              <a:rPr sz="1380" b="1">
                <a:solidFill>
                  <a:srgbClr val="000000"/>
                </a:solidFill>
                <a:latin typeface="Arial"/>
              </a:rPr>
              <a:t>• PS Category -</a:t>
            </a:r>
            <a:r>
              <a:rPr sz="1380" b="0">
                <a:solidFill>
                  <a:srgbClr val="232323"/>
                </a:solidFill>
                <a:latin typeface="Arial"/>
              </a:rPr>
              <a:t> Software</a:t>
            </a:r>
          </a:p>
          <a:p>
            <a:pPr>
              <a:spcAft>
                <a:spcPts val="800"/>
              </a:spcAft>
            </a:pPr>
            <a:r>
              <a:rPr sz="1380" b="1">
                <a:solidFill>
                  <a:srgbClr val="000000"/>
                </a:solidFill>
                <a:latin typeface="Arial"/>
              </a:rPr>
              <a:t>• Team ID -</a:t>
            </a:r>
            <a:r>
              <a:rPr sz="1380" b="0">
                <a:solidFill>
                  <a:srgbClr val="232323"/>
                </a:solidFill>
                <a:latin typeface="Arial"/>
              </a:rPr>
              <a:t> 137735</a:t>
            </a:r>
          </a:p>
          <a:p>
            <a:pPr>
              <a:spcAft>
                <a:spcPts val="800"/>
              </a:spcAft>
            </a:pPr>
            <a:r>
              <a:rPr sz="1380" b="1">
                <a:solidFill>
                  <a:srgbClr val="000000"/>
                </a:solidFill>
                <a:latin typeface="Arial"/>
              </a:rPr>
              <a:t>• Team Name -</a:t>
            </a:r>
            <a:r>
              <a:rPr sz="1380" b="0">
                <a:solidFill>
                  <a:srgbClr val="232323"/>
                </a:solidFill>
                <a:latin typeface="Arial"/>
              </a:rPr>
              <a:t> TeraPulse</a:t>
            </a:r>
          </a:p>
          <a:p>
            <a:pPr>
              <a:spcAft>
                <a:spcPts val="800"/>
              </a:spcAft>
            </a:pPr>
            <a:r>
              <a:rPr sz="1380" b="1">
                <a:solidFill>
                  <a:srgbClr val="000000"/>
                </a:solidFill>
                <a:latin typeface="Arial"/>
              </a:rPr>
              <a:t>• Team Members -</a:t>
            </a:r>
            <a:r>
              <a:rPr sz="1380" b="0">
                <a:solidFill>
                  <a:srgbClr val="232323"/>
                </a:solidFill>
                <a:latin typeface="Arial"/>
              </a:rPr>
              <a:t> Abhay Verma (Team Leader), Lokendra Singh,
Yashvardhan Jain, Chetan Meena, Sachin Chaubey, Esha Verma</a:t>
            </a:r>
          </a:p>
          <a:p>
            <a:pPr>
              <a:spcAft>
                <a:spcPts val="800"/>
              </a:spcAft>
            </a:pPr>
            <a:r>
              <a:rPr sz="1380" b="1">
                <a:solidFill>
                  <a:srgbClr val="000000"/>
                </a:solidFill>
                <a:latin typeface="Arial"/>
              </a:rPr>
              <a:t>• Institute -</a:t>
            </a:r>
            <a:r>
              <a:rPr sz="1380" b="0">
                <a:solidFill>
                  <a:srgbClr val="232323"/>
                </a:solidFill>
                <a:latin typeface="Arial"/>
              </a:rPr>
              <a:t> Indian Institute of Information Technology Bhopal</a:t>
            </a:r>
          </a:p>
        </p:txBody>
      </p:sp>
      <p:pic>
        <p:nvPicPr>
          <p:cNvPr id="6" name="Picture 5" descr="sih_bra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0" y="2011680"/>
            <a:ext cx="4754880" cy="5085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65760" y="201168"/>
            <a:ext cx="1280160" cy="77724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8063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>
              <a:defRPr sz="1200" b="1">
                <a:solidFill>
                  <a:srgbClr val="000000"/>
                </a:solidFill>
                <a:latin typeface="Arial"/>
              </a:defRPr>
            </a:pPr>
            <a:r>
              <a:t>TERA</a:t>
            </a:r>
            <a:br/>
            <a:r>
              <a:t>PULSE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148840" y="256032"/>
            <a:ext cx="758952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>
            <a:spAutoFit/>
          </a:bodyPr>
          <a:lstStyle/>
          <a:p>
            <a:pPr algn="ctr">
              <a:defRPr sz="2500" b="1">
                <a:solidFill>
                  <a:srgbClr val="000000"/>
                </a:solidFill>
                <a:latin typeface="Times New Roman"/>
              </a:defRPr>
            </a:pPr>
            <a:r>
              <a:t>PROPOSED SOLUTION &amp; INNOVATION</a:t>
            </a:r>
          </a:p>
        </p:txBody>
      </p:sp>
      <p:pic>
        <p:nvPicPr>
          <p:cNvPr id="4" name="Picture 3" descr="si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0" y="164592"/>
            <a:ext cx="1508760" cy="712897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06F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 rIns="548640"/>
          <a:lstStyle/>
          <a:p>
            <a:pPr algn="ctr">
              <a:defRPr sz="1100">
                <a:solidFill>
                  <a:srgbClr val="FFFFFF"/>
                </a:solidFill>
                <a:latin typeface="Arial"/>
              </a:defRPr>
            </a:pPr>
            <a:r>
              <a:t>@SIH Idea submission- Template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547104"/>
            <a:ext cx="5486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188720"/>
            <a:ext cx="6035040" cy="4114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900" b="1" u="sng">
                <a:solidFill>
                  <a:srgbClr val="1F487C"/>
                </a:solidFill>
                <a:latin typeface="Arial"/>
              </a:defRPr>
            </a:pPr>
            <a:r>
              <a:t>❖ Proposed Solution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91640"/>
            <a:ext cx="6035040" cy="2560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400"/>
              </a:spcAft>
            </a:pPr>
            <a:r>
              <a:rPr sz="1250" b="1">
                <a:solidFill>
                  <a:srgbClr val="000000"/>
                </a:solidFill>
                <a:latin typeface="Arial"/>
              </a:rPr>
              <a:t>• 2.5D Semantic Elevation Map: </a:t>
            </a:r>
            <a:r>
              <a:rPr sz="1250" b="0">
                <a:solidFill>
                  <a:srgbClr val="232323"/>
                </a:solidFill>
                <a:latin typeface="Arial"/>
              </a:rPr>
              <a:t>Generated directly from raw LiDAR point clouds.</a:t>
            </a:r>
          </a:p>
          <a:p>
            <a:pPr>
              <a:spcAft>
                <a:spcPts val="400"/>
              </a:spcAft>
            </a:pPr>
            <a:r>
              <a:rPr sz="1250" b="1">
                <a:solidFill>
                  <a:srgbClr val="000000"/>
                </a:solidFill>
                <a:latin typeface="Arial"/>
              </a:rPr>
              <a:t>• High-Precision Near Field: </a:t>
            </a:r>
            <a:r>
              <a:rPr sz="1250" b="0">
                <a:solidFill>
                  <a:srgbClr val="232323"/>
                </a:solidFill>
                <a:latin typeface="Arial"/>
              </a:rPr>
              <a:t>Fine resolution (0.25 m) near vehicle for critical steering.</a:t>
            </a:r>
          </a:p>
          <a:p>
            <a:pPr>
              <a:spcAft>
                <a:spcPts val="400"/>
              </a:spcAft>
            </a:pPr>
            <a:r>
              <a:rPr sz="1250" b="1">
                <a:solidFill>
                  <a:srgbClr val="000000"/>
                </a:solidFill>
                <a:latin typeface="Arial"/>
              </a:rPr>
              <a:t>• Bandwidth-Saving Far Field: </a:t>
            </a:r>
            <a:r>
              <a:rPr sz="1250" b="0">
                <a:solidFill>
                  <a:srgbClr val="232323"/>
                </a:solidFill>
                <a:latin typeface="Arial"/>
              </a:rPr>
              <a:t>Lower resolution (0.75 m &amp; 2.0 m) for distant regions - cuts unnecessary compute.</a:t>
            </a:r>
          </a:p>
          <a:p>
            <a:pPr>
              <a:spcAft>
                <a:spcPts val="400"/>
              </a:spcAft>
            </a:pPr>
            <a:r>
              <a:rPr sz="1250" b="1">
                <a:solidFill>
                  <a:srgbClr val="000000"/>
                </a:solidFill>
                <a:latin typeface="Arial"/>
              </a:rPr>
              <a:t>• Elevation &amp; Slope Awareness: </a:t>
            </a:r>
            <a:r>
              <a:rPr sz="1250" b="0">
                <a:solidFill>
                  <a:srgbClr val="232323"/>
                </a:solidFill>
                <a:latin typeface="Arial"/>
              </a:rPr>
              <a:t>Preserves terrain slopes, curbs &amp; ditches without full 3D voxels.</a:t>
            </a:r>
          </a:p>
          <a:p>
            <a:pPr>
              <a:spcAft>
                <a:spcPts val="400"/>
              </a:spcAft>
            </a:pPr>
            <a:r>
              <a:rPr sz="1250" b="1">
                <a:solidFill>
                  <a:srgbClr val="000000"/>
                </a:solidFill>
                <a:latin typeface="Arial"/>
              </a:rPr>
              <a:t>• Real-Time Terrain Intelligence: </a:t>
            </a:r>
            <a:r>
              <a:rPr sz="1250" b="0">
                <a:solidFill>
                  <a:srgbClr val="232323"/>
                </a:solidFill>
                <a:latin typeface="Arial"/>
              </a:rPr>
              <a:t>Identifies drivable ground, static obstacles &amp; dynamic objects.</a:t>
            </a:r>
          </a:p>
          <a:p>
            <a:pPr>
              <a:spcAft>
                <a:spcPts val="400"/>
              </a:spcAft>
            </a:pPr>
            <a:r>
              <a:rPr sz="1250" b="1">
                <a:solidFill>
                  <a:srgbClr val="000000"/>
                </a:solidFill>
                <a:latin typeface="Arial"/>
              </a:rPr>
              <a:t>• Autonomous Navigation Ready: </a:t>
            </a:r>
            <a:r>
              <a:rPr sz="1250" b="0">
                <a:solidFill>
                  <a:srgbClr val="232323"/>
                </a:solidFill>
                <a:latin typeface="Arial"/>
              </a:rPr>
              <a:t>Enables instant A* path planning &amp; Pure Pursuit motion control.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389120"/>
            <a:ext cx="6035040" cy="4114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900" b="1" u="sng">
                <a:solidFill>
                  <a:srgbClr val="1F487C"/>
                </a:solidFill>
                <a:latin typeface="Arial"/>
              </a:defRPr>
            </a:pPr>
            <a:r>
              <a:t>❖ Innovation &amp; Uniqueness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892040"/>
            <a:ext cx="6035040" cy="14630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500"/>
              </a:spcAft>
            </a:pPr>
            <a:r>
              <a:rPr sz="1250" b="1">
                <a:solidFill>
                  <a:srgbClr val="000000"/>
                </a:solidFill>
                <a:latin typeface="Arial"/>
              </a:rPr>
              <a:t>Foveated adaptive resolution </a:t>
            </a:r>
            <a:r>
              <a:rPr sz="1250" i="1">
                <a:solidFill>
                  <a:srgbClr val="232323"/>
                </a:solidFill>
                <a:latin typeface="Arial"/>
              </a:rPr>
              <a:t>focuses computational resources where they matter most, instead of processing the entire environment at the same resolution.</a:t>
            </a:r>
          </a:p>
          <a:p>
            <a:r>
              <a:rPr sz="1250" b="1">
                <a:solidFill>
                  <a:srgbClr val="000000"/>
                </a:solidFill>
                <a:latin typeface="Arial"/>
              </a:rPr>
              <a:t>• Measurable Impact: </a:t>
            </a:r>
            <a:r>
              <a:rPr sz="1250" b="0">
                <a:solidFill>
                  <a:srgbClr val="232323"/>
                </a:solidFill>
                <a:latin typeface="Arial"/>
              </a:rPr>
              <a:t>Slashes cell memory by 66.2% and cuts processing latency to 24.23 ms (41.3 FPS, exceeding 30 FPS real-time threshold).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6560" y="1188720"/>
            <a:ext cx="4937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000000"/>
                </a:solidFill>
                <a:latin typeface="Arial"/>
              </a:defRPr>
            </a:pPr>
            <a:r>
              <a:t>Foveated 2.5D Semantic Elevation Map</a:t>
            </a:r>
          </a:p>
        </p:txBody>
      </p:sp>
      <p:sp>
        <p:nvSpPr>
          <p:cNvPr id="12" name="Oval 11"/>
          <p:cNvSpPr/>
          <p:nvPr/>
        </p:nvSpPr>
        <p:spPr>
          <a:xfrm>
            <a:off x="7315200" y="1600200"/>
            <a:ext cx="3840480" cy="3840480"/>
          </a:xfrm>
          <a:prstGeom prst="ellipse">
            <a:avLst/>
          </a:prstGeom>
          <a:solidFill>
            <a:srgbClr val="BEDCFA"/>
          </a:solidFill>
          <a:ln w="25400">
            <a:solidFill>
              <a:srgbClr val="64A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275320" y="2560320"/>
            <a:ext cx="1920240" cy="1920240"/>
          </a:xfrm>
          <a:prstGeom prst="ellipse">
            <a:avLst/>
          </a:prstGeom>
          <a:solidFill>
            <a:srgbClr val="64AAF0"/>
          </a:solidFill>
          <a:ln w="25400">
            <a:solidFill>
              <a:srgbClr val="327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961120" y="3291840"/>
            <a:ext cx="548640" cy="457200"/>
          </a:xfrm>
          <a:prstGeom prst="roundRect">
            <a:avLst/>
          </a:prstGeom>
          <a:solidFill>
            <a:srgbClr val="DC3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595360" y="2926080"/>
            <a:ext cx="109728" cy="109728"/>
          </a:xfrm>
          <a:prstGeom prst="ellipse">
            <a:avLst/>
          </a:prstGeom>
          <a:solidFill>
            <a:srgbClr val="1E50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692640" y="2926080"/>
            <a:ext cx="109728" cy="109728"/>
          </a:xfrm>
          <a:prstGeom prst="ellipse">
            <a:avLst/>
          </a:prstGeom>
          <a:solidFill>
            <a:srgbClr val="1E50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686800" y="3840480"/>
            <a:ext cx="109728" cy="109728"/>
          </a:xfrm>
          <a:prstGeom prst="ellipse">
            <a:avLst/>
          </a:prstGeom>
          <a:solidFill>
            <a:srgbClr val="1E50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601200" y="3931920"/>
            <a:ext cx="109728" cy="109728"/>
          </a:xfrm>
          <a:prstGeom prst="ellipse">
            <a:avLst/>
          </a:prstGeom>
          <a:solidFill>
            <a:srgbClr val="1E50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412480" y="3474720"/>
            <a:ext cx="109728" cy="109728"/>
          </a:xfrm>
          <a:prstGeom prst="ellipse">
            <a:avLst/>
          </a:prstGeom>
          <a:solidFill>
            <a:srgbClr val="1E50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875520" y="3383280"/>
            <a:ext cx="109728" cy="109728"/>
          </a:xfrm>
          <a:prstGeom prst="ellipse">
            <a:avLst/>
          </a:prstGeom>
          <a:solidFill>
            <a:srgbClr val="1E50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961120" y="2743200"/>
            <a:ext cx="109728" cy="109728"/>
          </a:xfrm>
          <a:prstGeom prst="ellipse">
            <a:avLst/>
          </a:prstGeom>
          <a:solidFill>
            <a:srgbClr val="1E50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326880" y="4206240"/>
            <a:ext cx="109728" cy="109728"/>
          </a:xfrm>
          <a:prstGeom prst="ellipse">
            <a:avLst/>
          </a:prstGeom>
          <a:solidFill>
            <a:srgbClr val="1E50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680960" y="2103120"/>
            <a:ext cx="109728" cy="109728"/>
          </a:xfrm>
          <a:prstGeom prst="ellipse">
            <a:avLst/>
          </a:prstGeom>
          <a:solidFill>
            <a:srgbClr val="1E50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424160" y="2103120"/>
            <a:ext cx="109728" cy="109728"/>
          </a:xfrm>
          <a:prstGeom prst="ellipse">
            <a:avLst/>
          </a:prstGeom>
          <a:solidFill>
            <a:srgbClr val="1E50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7589520" y="4480560"/>
            <a:ext cx="109728" cy="109728"/>
          </a:xfrm>
          <a:prstGeom prst="ellipse">
            <a:avLst/>
          </a:prstGeom>
          <a:solidFill>
            <a:srgbClr val="1E50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698480" y="4297680"/>
            <a:ext cx="109728" cy="109728"/>
          </a:xfrm>
          <a:prstGeom prst="ellipse">
            <a:avLst/>
          </a:prstGeom>
          <a:solidFill>
            <a:srgbClr val="1E50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498079" y="3200400"/>
            <a:ext cx="109728" cy="109728"/>
          </a:xfrm>
          <a:prstGeom prst="ellipse">
            <a:avLst/>
          </a:prstGeom>
          <a:solidFill>
            <a:srgbClr val="1E50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0881360" y="3200400"/>
            <a:ext cx="109728" cy="109728"/>
          </a:xfrm>
          <a:prstGeom prst="ellipse">
            <a:avLst/>
          </a:prstGeom>
          <a:solidFill>
            <a:srgbClr val="1E50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052560" y="1737360"/>
            <a:ext cx="109728" cy="109728"/>
          </a:xfrm>
          <a:prstGeom prst="ellipse">
            <a:avLst/>
          </a:prstGeom>
          <a:solidFill>
            <a:srgbClr val="1E50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235440" y="5212080"/>
            <a:ext cx="109728" cy="109728"/>
          </a:xfrm>
          <a:prstGeom prst="ellipse">
            <a:avLst/>
          </a:prstGeom>
          <a:solidFill>
            <a:srgbClr val="1E50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315200" y="5532120"/>
            <a:ext cx="228600" cy="228600"/>
          </a:xfrm>
          <a:prstGeom prst="rect">
            <a:avLst/>
          </a:prstGeom>
          <a:solidFill>
            <a:srgbClr val="64A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635240" y="5486400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232323"/>
                </a:solidFill>
                <a:latin typeface="Arial"/>
              </a:defRPr>
            </a:pPr>
            <a:r>
              <a:t>High resolution near the vehicle (near-field: 0.25 m bubble)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315200" y="5897880"/>
            <a:ext cx="228600" cy="228600"/>
          </a:xfrm>
          <a:prstGeom prst="rect">
            <a:avLst/>
          </a:prstGeom>
          <a:solidFill>
            <a:srgbClr val="BEDC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635240" y="5852160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232323"/>
                </a:solidFill>
                <a:latin typeface="Arial"/>
              </a:defRPr>
            </a:pPr>
            <a:r>
              <a:t>Lower resolution for distant regions (far-field: 0.75m &amp; 2.0m)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65760" y="201168"/>
            <a:ext cx="1280160" cy="77724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8063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>
              <a:defRPr sz="1200" b="1">
                <a:solidFill>
                  <a:srgbClr val="000000"/>
                </a:solidFill>
                <a:latin typeface="Arial"/>
              </a:defRPr>
            </a:pPr>
            <a:r>
              <a:t>TERA</a:t>
            </a:r>
            <a:br/>
            <a:r>
              <a:t>PULSE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148840" y="256032"/>
            <a:ext cx="758952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>
            <a:spAutoFit/>
          </a:bodyPr>
          <a:lstStyle/>
          <a:p>
            <a:pPr algn="ctr">
              <a:defRPr sz="2500" b="1">
                <a:solidFill>
                  <a:srgbClr val="000000"/>
                </a:solidFill>
                <a:latin typeface="Times New Roman"/>
              </a:defRPr>
            </a:pPr>
            <a:r>
              <a:t>TECHNICAL APPROACH</a:t>
            </a:r>
          </a:p>
        </p:txBody>
      </p:sp>
      <p:pic>
        <p:nvPicPr>
          <p:cNvPr id="4" name="Picture 3" descr="si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0" y="164592"/>
            <a:ext cx="1508760" cy="712897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06F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 rIns="548640"/>
          <a:lstStyle/>
          <a:p>
            <a:pPr algn="ctr">
              <a:defRPr sz="1100">
                <a:solidFill>
                  <a:srgbClr val="FFFFFF"/>
                </a:solidFill>
                <a:latin typeface="Arial"/>
              </a:defRPr>
            </a:pPr>
            <a:r>
              <a:t>@SIH Idea submission- Template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547104"/>
            <a:ext cx="5486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188720"/>
            <a:ext cx="4206240" cy="4114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900" b="1" u="sng">
                <a:solidFill>
                  <a:srgbClr val="1F487C"/>
                </a:solidFill>
                <a:latin typeface="Arial"/>
              </a:defRPr>
            </a:pPr>
            <a:r>
              <a:t>System Workflow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691640"/>
            <a:ext cx="4206240" cy="457200"/>
          </a:xfrm>
          <a:prstGeom prst="roundRect">
            <a:avLst/>
          </a:prstGeom>
          <a:solidFill>
            <a:srgbClr val="006F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LiDAR Point Cloud</a:t>
            </a:r>
          </a:p>
        </p:txBody>
      </p:sp>
      <p:sp>
        <p:nvSpPr>
          <p:cNvPr id="9" name="Down Arrow 8"/>
          <p:cNvSpPr/>
          <p:nvPr/>
        </p:nvSpPr>
        <p:spPr>
          <a:xfrm>
            <a:off x="2542032" y="2167128"/>
            <a:ext cx="219456" cy="164592"/>
          </a:xfrm>
          <a:prstGeom prst="downArrow">
            <a:avLst/>
          </a:prstGeom>
          <a:solidFill>
            <a:srgbClr val="1E27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48640" y="2386584"/>
            <a:ext cx="4206240" cy="457200"/>
          </a:xfrm>
          <a:prstGeom prst="roundRect">
            <a:avLst/>
          </a:prstGeom>
          <a:solidFill>
            <a:srgbClr val="006F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Preprocessing &amp; Noise Removal</a:t>
            </a:r>
          </a:p>
        </p:txBody>
      </p:sp>
      <p:sp>
        <p:nvSpPr>
          <p:cNvPr id="11" name="Down Arrow 10"/>
          <p:cNvSpPr/>
          <p:nvPr/>
        </p:nvSpPr>
        <p:spPr>
          <a:xfrm>
            <a:off x="2542032" y="2862072"/>
            <a:ext cx="219456" cy="164592"/>
          </a:xfrm>
          <a:prstGeom prst="downArrow">
            <a:avLst/>
          </a:prstGeom>
          <a:solidFill>
            <a:srgbClr val="1E27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48640" y="3081528"/>
            <a:ext cx="4206240" cy="457200"/>
          </a:xfrm>
          <a:prstGeom prst="roundRect">
            <a:avLst/>
          </a:prstGeom>
          <a:solidFill>
            <a:srgbClr val="006F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Semantic Understanding (RandLA-Net)</a:t>
            </a:r>
          </a:p>
        </p:txBody>
      </p:sp>
      <p:sp>
        <p:nvSpPr>
          <p:cNvPr id="13" name="Down Arrow 12"/>
          <p:cNvSpPr/>
          <p:nvPr/>
        </p:nvSpPr>
        <p:spPr>
          <a:xfrm>
            <a:off x="2542032" y="3557016"/>
            <a:ext cx="219456" cy="164592"/>
          </a:xfrm>
          <a:prstGeom prst="downArrow">
            <a:avLst/>
          </a:prstGeom>
          <a:solidFill>
            <a:srgbClr val="1E27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48640" y="3776472"/>
            <a:ext cx="4206240" cy="457200"/>
          </a:xfrm>
          <a:prstGeom prst="roundRect">
            <a:avLst/>
          </a:prstGeom>
          <a:solidFill>
            <a:srgbClr val="1E27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50" b="1">
                <a:solidFill>
                  <a:srgbClr val="FFFFFF"/>
                </a:solidFill>
                <a:latin typeface="Arial"/>
              </a:defRPr>
            </a:pPr>
            <a:r>
              <a:t>Foveated Adaptive Grid Generation</a:t>
            </a:r>
          </a:p>
        </p:txBody>
      </p:sp>
      <p:sp>
        <p:nvSpPr>
          <p:cNvPr id="15" name="Down Arrow 14"/>
          <p:cNvSpPr/>
          <p:nvPr/>
        </p:nvSpPr>
        <p:spPr>
          <a:xfrm>
            <a:off x="2542032" y="4251960"/>
            <a:ext cx="219456" cy="164592"/>
          </a:xfrm>
          <a:prstGeom prst="downArrow">
            <a:avLst/>
          </a:prstGeom>
          <a:solidFill>
            <a:srgbClr val="1E27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48640" y="4471416"/>
            <a:ext cx="4206240" cy="457200"/>
          </a:xfrm>
          <a:prstGeom prst="roundRect">
            <a:avLst/>
          </a:prstGeom>
          <a:solidFill>
            <a:srgbClr val="006F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2.5D Semantic Elevation Map</a:t>
            </a:r>
          </a:p>
        </p:txBody>
      </p:sp>
      <p:sp>
        <p:nvSpPr>
          <p:cNvPr id="17" name="Down Arrow 16"/>
          <p:cNvSpPr/>
          <p:nvPr/>
        </p:nvSpPr>
        <p:spPr>
          <a:xfrm>
            <a:off x="2542032" y="4946904"/>
            <a:ext cx="219456" cy="164592"/>
          </a:xfrm>
          <a:prstGeom prst="downArrow">
            <a:avLst/>
          </a:prstGeom>
          <a:solidFill>
            <a:srgbClr val="1E27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48640" y="5166360"/>
            <a:ext cx="4206240" cy="457200"/>
          </a:xfrm>
          <a:prstGeom prst="roundRect">
            <a:avLst/>
          </a:prstGeom>
          <a:solidFill>
            <a:srgbClr val="006F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Real-Time Visualization &amp; Navigation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20640" y="1188720"/>
            <a:ext cx="6492240" cy="4114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900" b="1" u="sng">
                <a:solidFill>
                  <a:srgbClr val="1F487C"/>
                </a:solidFill>
                <a:latin typeface="Arial"/>
              </a:defRPr>
            </a:pPr>
            <a:r>
              <a:t>Technologies &amp; Implementation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20640" y="1600200"/>
            <a:ext cx="6492240" cy="13716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000000"/>
                </a:solidFill>
                <a:latin typeface="Arial"/>
              </a:rPr>
              <a:t>• Python, Open3D &amp; NumPy: </a:t>
            </a:r>
            <a:r>
              <a:rPr sz="1100" b="0">
                <a:solidFill>
                  <a:srgbClr val="232323"/>
                </a:solidFill>
                <a:latin typeface="Arial"/>
              </a:rPr>
              <a:t>Point cloud preprocessing, voxelization &amp; spatial hashing.</a:t>
            </a:r>
          </a:p>
          <a:p>
            <a:pPr>
              <a:spcAft>
                <a:spcPts val="200"/>
              </a:spcAft>
            </a:pPr>
            <a:r>
              <a:rPr sz="1100" b="1">
                <a:solidFill>
                  <a:srgbClr val="000000"/>
                </a:solidFill>
                <a:latin typeface="Arial"/>
              </a:rPr>
              <a:t>• Quantized RandLA-Net: </a:t>
            </a:r>
            <a:r>
              <a:rPr sz="1100" b="0">
                <a:solidFill>
                  <a:srgbClr val="232323"/>
                </a:solidFill>
                <a:latin typeface="Arial"/>
              </a:rPr>
              <a:t>1.25M params, INT8 TensorRT backbone (~8.4 ms inference within 24.23 ms budget).</a:t>
            </a:r>
          </a:p>
          <a:p>
            <a:pPr>
              <a:spcAft>
                <a:spcPts val="200"/>
              </a:spcAft>
            </a:pPr>
            <a:r>
              <a:rPr sz="1100" b="1">
                <a:solidFill>
                  <a:srgbClr val="000000"/>
                </a:solidFill>
                <a:latin typeface="Arial"/>
              </a:rPr>
              <a:t>• A* Search &amp; Pure Pursuit: </a:t>
            </a:r>
            <a:r>
              <a:rPr sz="1100" b="0">
                <a:solidFill>
                  <a:srgbClr val="232323"/>
                </a:solidFill>
                <a:latin typeface="Arial"/>
              </a:rPr>
              <a:t>Collision-free path planning &amp; smooth 10 Hz vehicle steering kinematics.</a:t>
            </a:r>
          </a:p>
          <a:p>
            <a:pPr>
              <a:spcAft>
                <a:spcPts val="200"/>
              </a:spcAft>
            </a:pPr>
            <a:r>
              <a:rPr sz="1100" b="1">
                <a:solidFill>
                  <a:srgbClr val="000000"/>
                </a:solidFill>
                <a:latin typeface="Arial"/>
              </a:rPr>
              <a:t>• Interactive Web Dashboard: </a:t>
            </a:r>
            <a:r>
              <a:rPr sz="1100" b="0">
                <a:solidFill>
                  <a:srgbClr val="232323"/>
                </a:solidFill>
                <a:latin typeface="Arial"/>
              </a:rPr>
              <a:t>Flask REST API, 60 FPS HTML5 Canvas with moving foveation bubble.</a:t>
            </a:r>
          </a:p>
        </p:txBody>
      </p:sp>
      <p:pic>
        <p:nvPicPr>
          <p:cNvPr id="21" name="Picture 20" descr="slide3_key_plo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640" y="3063240"/>
            <a:ext cx="5852160" cy="3270835"/>
          </a:xfrm>
          <a:prstGeom prst="rect">
            <a:avLst/>
          </a:prstGeom>
          <a:ln w="12700">
            <a:solidFill>
              <a:srgbClr val="BFC0BF"/>
            </a:solidFill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65760" y="201168"/>
            <a:ext cx="1280160" cy="77724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8063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>
              <a:defRPr sz="1200" b="1">
                <a:solidFill>
                  <a:srgbClr val="000000"/>
                </a:solidFill>
                <a:latin typeface="Arial"/>
              </a:defRPr>
            </a:pPr>
            <a:r>
              <a:t>TERA</a:t>
            </a:r>
            <a:br/>
            <a:r>
              <a:t>PULSE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148840" y="256032"/>
            <a:ext cx="758952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>
            <a:spAutoFit/>
          </a:bodyPr>
          <a:lstStyle/>
          <a:p>
            <a:pPr algn="ctr">
              <a:defRPr sz="2500" b="1">
                <a:solidFill>
                  <a:srgbClr val="000000"/>
                </a:solidFill>
                <a:latin typeface="Times New Roman"/>
              </a:defRPr>
            </a:pPr>
            <a:r>
              <a:t>FEASIBILITY AND VIABILITY</a:t>
            </a:r>
          </a:p>
        </p:txBody>
      </p:sp>
      <p:pic>
        <p:nvPicPr>
          <p:cNvPr id="4" name="Picture 3" descr="si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0" y="164592"/>
            <a:ext cx="1508760" cy="712897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06F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 rIns="548640"/>
          <a:lstStyle/>
          <a:p>
            <a:pPr algn="ctr">
              <a:defRPr sz="1100">
                <a:solidFill>
                  <a:srgbClr val="FFFFFF"/>
                </a:solidFill>
                <a:latin typeface="Arial"/>
              </a:defRPr>
            </a:pPr>
            <a:r>
              <a:t>@SIH Idea submission- Template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547104"/>
            <a:ext cx="5486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143000"/>
            <a:ext cx="2011680" cy="457200"/>
          </a:xfrm>
          <a:prstGeom prst="roundRect">
            <a:avLst/>
          </a:prstGeom>
          <a:solidFill>
            <a:srgbClr val="006F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 u="sng">
                <a:solidFill>
                  <a:srgbClr val="FFFFFF"/>
                </a:solidFill>
                <a:latin typeface="Arial"/>
              </a:defRPr>
            </a:pPr>
            <a:r>
              <a:t>Feasibility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91640"/>
            <a:ext cx="5120640" cy="17373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300"/>
              </a:spcAft>
            </a:pPr>
            <a:r>
              <a:rPr sz="1100" b="1">
                <a:solidFill>
                  <a:srgbClr val="000000"/>
                </a:solidFill>
                <a:latin typeface="Arial"/>
              </a:rPr>
              <a:t>• Standard Datasets: </a:t>
            </a:r>
            <a:r>
              <a:rPr sz="1100" b="0">
                <a:solidFill>
                  <a:srgbClr val="232323"/>
                </a:solidFill>
                <a:latin typeface="Arial"/>
              </a:rPr>
              <a:t>Uses widely available LiDAR point cloud datasets &amp; open-source tools.</a:t>
            </a:r>
          </a:p>
          <a:p>
            <a:pPr>
              <a:spcAft>
                <a:spcPts val="300"/>
              </a:spcAft>
            </a:pPr>
            <a:r>
              <a:rPr sz="1100" b="1">
                <a:solidFill>
                  <a:srgbClr val="000000"/>
                </a:solidFill>
                <a:latin typeface="Arial"/>
              </a:rPr>
              <a:t>• Rapid Development: </a:t>
            </a:r>
            <a:r>
              <a:rPr sz="1100" b="0">
                <a:solidFill>
                  <a:srgbClr val="232323"/>
                </a:solidFill>
                <a:latin typeface="Arial"/>
              </a:rPr>
              <a:t>Python, Open3D, and PyTorch enable agile modular prototyping.</a:t>
            </a:r>
          </a:p>
          <a:p>
            <a:pPr>
              <a:spcAft>
                <a:spcPts val="300"/>
              </a:spcAft>
            </a:pPr>
            <a:r>
              <a:rPr sz="1100" b="1">
                <a:solidFill>
                  <a:srgbClr val="000000"/>
                </a:solidFill>
                <a:latin typeface="Arial"/>
              </a:rPr>
              <a:t>• Edge Hardware Validation: </a:t>
            </a:r>
            <a:r>
              <a:rPr sz="1100" b="0">
                <a:solidFill>
                  <a:srgbClr val="232323"/>
                </a:solidFill>
                <a:latin typeface="Arial"/>
              </a:rPr>
              <a:t>Targeted for NVIDIA Jetson Orin Nano (8GB, 15W mode) with TensorRT &amp; CUDA.</a:t>
            </a:r>
          </a:p>
          <a:p>
            <a:pPr>
              <a:spcAft>
                <a:spcPts val="300"/>
              </a:spcAft>
            </a:pPr>
            <a:r>
              <a:rPr sz="1100" b="1">
                <a:solidFill>
                  <a:srgbClr val="000000"/>
                </a:solidFill>
                <a:latin typeface="Arial"/>
              </a:rPr>
              <a:t>• Modular Pipeline: </a:t>
            </a:r>
            <a:r>
              <a:rPr sz="1100" b="0">
                <a:solidFill>
                  <a:srgbClr val="232323"/>
                </a:solidFill>
                <a:latin typeface="Arial"/>
              </a:rPr>
              <a:t>Components tested independently with 5/5 automated unit tests passing.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611880"/>
            <a:ext cx="2011680" cy="457200"/>
          </a:xfrm>
          <a:prstGeom prst="roundRect">
            <a:avLst/>
          </a:prstGeom>
          <a:solidFill>
            <a:srgbClr val="006F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 u="sng">
                <a:solidFill>
                  <a:srgbClr val="FFFFFF"/>
                </a:solidFill>
                <a:latin typeface="Arial"/>
              </a:defRPr>
            </a:pPr>
            <a:r>
              <a:t>Challenges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160520"/>
            <a:ext cx="5120640" cy="21031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300"/>
              </a:spcAft>
            </a:pPr>
            <a:r>
              <a:rPr sz="1100" b="1">
                <a:solidFill>
                  <a:srgbClr val="000000"/>
                </a:solidFill>
                <a:latin typeface="Arial"/>
              </a:rPr>
              <a:t>• Heavy Data Stream: </a:t>
            </a:r>
            <a:r>
              <a:rPr sz="1100" b="0">
                <a:solidFill>
                  <a:srgbClr val="232323"/>
                </a:solidFill>
                <a:latin typeface="Arial"/>
              </a:rPr>
              <a:t>Real-time processing of large LiDAR point clouds at 10-20 Hz.</a:t>
            </a:r>
          </a:p>
          <a:p>
            <a:pPr>
              <a:spcAft>
                <a:spcPts val="300"/>
              </a:spcAft>
            </a:pPr>
            <a:r>
              <a:rPr sz="1100" b="1">
                <a:solidFill>
                  <a:srgbClr val="000000"/>
                </a:solidFill>
                <a:latin typeface="Arial"/>
              </a:rPr>
              <a:t>• Off-Road Accuracy: </a:t>
            </a:r>
            <a:r>
              <a:rPr sz="1100" b="0">
                <a:solidFill>
                  <a:srgbClr val="232323"/>
                </a:solidFill>
                <a:latin typeface="Arial"/>
              </a:rPr>
              <a:t>Accurate semantic classification in unstructured off-road scenes.</a:t>
            </a:r>
          </a:p>
          <a:p>
            <a:pPr>
              <a:spcAft>
                <a:spcPts val="300"/>
              </a:spcAft>
            </a:pPr>
            <a:r>
              <a:rPr sz="1100" b="1">
                <a:solidFill>
                  <a:srgbClr val="000000"/>
                </a:solidFill>
                <a:latin typeface="Arial"/>
              </a:rPr>
              <a:t>• Underpasses &amp; Tunnels: </a:t>
            </a:r>
            <a:r>
              <a:rPr sz="1100" b="0">
                <a:solidFill>
                  <a:srgbClr val="232323"/>
                </a:solidFill>
                <a:latin typeface="Arial"/>
              </a:rPr>
              <a:t>Avoiding false-positive obstacle detection for bridge ceilings.</a:t>
            </a:r>
          </a:p>
          <a:p>
            <a:pPr>
              <a:spcAft>
                <a:spcPts val="300"/>
              </a:spcAft>
            </a:pPr>
            <a:r>
              <a:rPr sz="1100" b="1">
                <a:solidFill>
                  <a:srgbClr val="000000"/>
                </a:solidFill>
                <a:latin typeface="Arial"/>
              </a:rPr>
              <a:t>• Detail Retention: </a:t>
            </a:r>
            <a:r>
              <a:rPr sz="1100" b="0">
                <a:solidFill>
                  <a:srgbClr val="232323"/>
                </a:solidFill>
                <a:latin typeface="Arial"/>
              </a:rPr>
              <a:t>Maintaining critical safety clearance while reducing distant resolution.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897880" y="1188720"/>
            <a:ext cx="18288" cy="5120640"/>
          </a:xfrm>
          <a:prstGeom prst="rect">
            <a:avLst/>
          </a:prstGeom>
          <a:solidFill>
            <a:srgbClr val="C3C3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172200" y="1143000"/>
            <a:ext cx="2468880" cy="457200"/>
          </a:xfrm>
          <a:prstGeom prst="roundRect">
            <a:avLst/>
          </a:prstGeom>
          <a:solidFill>
            <a:srgbClr val="006F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 u="sng">
                <a:solidFill>
                  <a:srgbClr val="FFFFFF"/>
                </a:solidFill>
                <a:latin typeface="Arial"/>
              </a:defRPr>
            </a:pPr>
            <a:r>
              <a:t>Mitigation Strategy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72200" y="1691640"/>
            <a:ext cx="5486400" cy="15544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300"/>
              </a:spcAft>
            </a:pPr>
            <a:r>
              <a:rPr sz="1100" b="1">
                <a:solidFill>
                  <a:srgbClr val="000000"/>
                </a:solidFill>
                <a:latin typeface="Arial"/>
              </a:rPr>
              <a:t>• Foveated Attention: </a:t>
            </a:r>
            <a:r>
              <a:rPr sz="1100" b="0">
                <a:solidFill>
                  <a:srgbClr val="232323"/>
                </a:solidFill>
                <a:latin typeface="Arial"/>
              </a:rPr>
              <a:t>Variable-resolution mapping concentrates compute in near-field (24.23 ms).</a:t>
            </a:r>
          </a:p>
          <a:p>
            <a:pPr>
              <a:spcAft>
                <a:spcPts val="300"/>
              </a:spcAft>
            </a:pPr>
            <a:r>
              <a:rPr sz="1100" b="1">
                <a:solidFill>
                  <a:srgbClr val="000000"/>
                </a:solidFill>
                <a:latin typeface="Arial"/>
              </a:rPr>
              <a:t>• SOR &amp; RANSAC Fit: </a:t>
            </a:r>
            <a:r>
              <a:rPr sz="1100" b="0">
                <a:solidFill>
                  <a:srgbClr val="232323"/>
                </a:solidFill>
                <a:latin typeface="Arial"/>
              </a:rPr>
              <a:t>Statistical Outlier Removal &amp; ground fit eliminate dust &amp; sensor reflections.</a:t>
            </a:r>
          </a:p>
          <a:p>
            <a:pPr>
              <a:spcAft>
                <a:spcPts val="300"/>
              </a:spcAft>
            </a:pPr>
            <a:r>
              <a:rPr sz="1100" b="1">
                <a:solidFill>
                  <a:srgbClr val="000000"/>
                </a:solidFill>
                <a:latin typeface="Arial"/>
              </a:rPr>
              <a:t>• Vertical Clearance: </a:t>
            </a:r>
            <a:r>
              <a:rPr sz="1100" b="0">
                <a:solidFill>
                  <a:srgbClr val="232323"/>
                </a:solidFill>
                <a:latin typeface="Arial"/>
              </a:rPr>
              <a:t>Clearance filter ignores points &gt;2.2 m, enabling safe tunnel traversal.</a:t>
            </a:r>
          </a:p>
          <a:p>
            <a:pPr>
              <a:spcAft>
                <a:spcPts val="300"/>
              </a:spcAft>
            </a:pPr>
            <a:r>
              <a:rPr sz="1100" b="1">
                <a:solidFill>
                  <a:srgbClr val="000000"/>
                </a:solidFill>
                <a:latin typeface="Arial"/>
              </a:rPr>
              <a:t>• Proven Edge Benchmark: </a:t>
            </a:r>
            <a:r>
              <a:rPr sz="1100" b="0">
                <a:solidFill>
                  <a:srgbClr val="232323"/>
                </a:solidFill>
                <a:latin typeface="Arial"/>
              </a:rPr>
              <a:t>Benchmarked on Jetson Orin Nano edge platform (not desktop GPU) at 41.3 FPS (24.23 ms).</a:t>
            </a:r>
          </a:p>
        </p:txBody>
      </p:sp>
      <p:pic>
        <p:nvPicPr>
          <p:cNvPr id="14" name="Picture 13" descr="overbridge_concep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3337560"/>
            <a:ext cx="5440680" cy="3036659"/>
          </a:xfrm>
          <a:prstGeom prst="rect">
            <a:avLst/>
          </a:prstGeom>
          <a:ln w="12700">
            <a:solidFill>
              <a:srgbClr val="BFC0BF"/>
            </a:solidFill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65760" y="201168"/>
            <a:ext cx="1280160" cy="77724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8063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>
              <a:defRPr sz="1200" b="1">
                <a:solidFill>
                  <a:srgbClr val="000000"/>
                </a:solidFill>
                <a:latin typeface="Arial"/>
              </a:defRPr>
            </a:pPr>
            <a:r>
              <a:t>TERA</a:t>
            </a:r>
            <a:br/>
            <a:r>
              <a:t>PULSE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148840" y="256032"/>
            <a:ext cx="758952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>
            <a:spAutoFit/>
          </a:bodyPr>
          <a:lstStyle/>
          <a:p>
            <a:pPr algn="ctr">
              <a:defRPr sz="2500" b="1">
                <a:solidFill>
                  <a:srgbClr val="000000"/>
                </a:solidFill>
                <a:latin typeface="Times New Roman"/>
              </a:defRPr>
            </a:pPr>
            <a:r>
              <a:t>IMPACT AND BENEFITS</a:t>
            </a:r>
          </a:p>
        </p:txBody>
      </p:sp>
      <p:pic>
        <p:nvPicPr>
          <p:cNvPr id="4" name="Picture 3" descr="si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0" y="164592"/>
            <a:ext cx="1508760" cy="712897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06F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 rIns="548640"/>
          <a:lstStyle/>
          <a:p>
            <a:pPr algn="ctr">
              <a:defRPr sz="1100">
                <a:solidFill>
                  <a:srgbClr val="FFFFFF"/>
                </a:solidFill>
                <a:latin typeface="Arial"/>
              </a:defRPr>
            </a:pPr>
            <a:r>
              <a:t>@SIH Idea submission- Template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547104"/>
            <a:ext cx="5486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143000"/>
            <a:ext cx="1920240" cy="457200"/>
          </a:xfrm>
          <a:prstGeom prst="roundRect">
            <a:avLst/>
          </a:prstGeom>
          <a:solidFill>
            <a:srgbClr val="006F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 u="sng">
                <a:solidFill>
                  <a:srgbClr val="FFFFFF"/>
                </a:solidFill>
                <a:latin typeface="Arial"/>
              </a:defRPr>
            </a:pPr>
            <a:r>
              <a:t>Impact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91640"/>
            <a:ext cx="4389120" cy="14630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000000"/>
                </a:solidFill>
                <a:latin typeface="Arial"/>
              </a:rPr>
              <a:t>• Tactical UGV Navigation: </a:t>
            </a:r>
            <a:r>
              <a:rPr sz="1100" b="0">
                <a:solidFill>
                  <a:srgbClr val="232323"/>
                </a:solidFill>
                <a:latin typeface="Arial"/>
              </a:rPr>
              <a:t>Supports safer and faster autonomous military navigation.</a:t>
            </a:r>
          </a:p>
          <a:p>
            <a:pPr>
              <a:spcAft>
                <a:spcPts val="200"/>
              </a:spcAft>
            </a:pPr>
            <a:r>
              <a:rPr sz="1100" b="1">
                <a:solidFill>
                  <a:srgbClr val="000000"/>
                </a:solidFill>
                <a:latin typeface="Arial"/>
              </a:rPr>
              <a:t>• Critical Near-Field Safety: </a:t>
            </a:r>
            <a:r>
              <a:rPr sz="1100" b="0">
                <a:solidFill>
                  <a:srgbClr val="232323"/>
                </a:solidFill>
                <a:latin typeface="Arial"/>
              </a:rPr>
              <a:t>Sub-meter precision in safety-critical perimeter around vehicle.</a:t>
            </a:r>
          </a:p>
          <a:p>
            <a:pPr>
              <a:spcAft>
                <a:spcPts val="200"/>
              </a:spcAft>
            </a:pPr>
            <a:r>
              <a:rPr sz="1100" b="1">
                <a:solidFill>
                  <a:srgbClr val="000000"/>
                </a:solidFill>
                <a:latin typeface="Arial"/>
              </a:rPr>
              <a:t>• Zero-Visibility Ops: </a:t>
            </a:r>
            <a:r>
              <a:rPr sz="1100" b="0">
                <a:solidFill>
                  <a:srgbClr val="232323"/>
                </a:solidFill>
                <a:latin typeface="Arial"/>
              </a:rPr>
              <a:t>Active LiDAR is invariant to total pitch darkness and harsh glare.</a:t>
            </a:r>
          </a:p>
          <a:p>
            <a:pPr>
              <a:spcAft>
                <a:spcPts val="200"/>
              </a:spcAft>
            </a:pPr>
            <a:r>
              <a:rPr sz="1100" b="1">
                <a:solidFill>
                  <a:srgbClr val="000000"/>
                </a:solidFill>
                <a:latin typeface="Arial"/>
              </a:rPr>
              <a:t>• Terrain Intelligence: </a:t>
            </a:r>
            <a:r>
              <a:rPr sz="1100" b="0">
                <a:solidFill>
                  <a:srgbClr val="232323"/>
                </a:solidFill>
                <a:latin typeface="Arial"/>
              </a:rPr>
              <a:t>Real-time elevation slope, ditches &amp; surface roughness understanding.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474720"/>
            <a:ext cx="2103120" cy="457200"/>
          </a:xfrm>
          <a:prstGeom prst="roundRect">
            <a:avLst/>
          </a:prstGeom>
          <a:solidFill>
            <a:srgbClr val="006F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 u="sng">
                <a:solidFill>
                  <a:srgbClr val="FFFFFF"/>
                </a:solidFill>
                <a:latin typeface="Arial"/>
              </a:defRPr>
            </a:pPr>
            <a:r>
              <a:t>Applications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023360"/>
            <a:ext cx="4389120" cy="20116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300"/>
              </a:spcAft>
            </a:pPr>
            <a:r>
              <a:rPr sz="1100" b="1">
                <a:solidFill>
                  <a:srgbClr val="000000"/>
                </a:solidFill>
                <a:latin typeface="Arial"/>
              </a:rPr>
              <a:t>• Defence &amp; Tactical UGVs: </a:t>
            </a:r>
            <a:r>
              <a:rPr sz="1100" b="0">
                <a:solidFill>
                  <a:srgbClr val="232323"/>
                </a:solidFill>
                <a:latin typeface="Arial"/>
              </a:rPr>
              <a:t>Logistics convoys, perimeter patrols, scout rovers &amp; minefield recon.</a:t>
            </a:r>
          </a:p>
          <a:p>
            <a:pPr>
              <a:spcAft>
                <a:spcPts val="300"/>
              </a:spcAft>
            </a:pPr>
            <a:r>
              <a:rPr sz="1100" b="1">
                <a:solidFill>
                  <a:srgbClr val="000000"/>
                </a:solidFill>
                <a:latin typeface="Arial"/>
              </a:rPr>
              <a:t>• Off-Road Autonomous Rovers: </a:t>
            </a:r>
            <a:r>
              <a:rPr sz="1100" b="0">
                <a:solidFill>
                  <a:srgbClr val="232323"/>
                </a:solidFill>
                <a:latin typeface="Arial"/>
              </a:rPr>
              <a:t>Search-and-rescue rovers in disaster zones, agricultural robotics.</a:t>
            </a:r>
          </a:p>
          <a:p>
            <a:pPr>
              <a:spcAft>
                <a:spcPts val="300"/>
              </a:spcAft>
            </a:pPr>
            <a:r>
              <a:rPr sz="1100" b="1">
                <a:solidFill>
                  <a:srgbClr val="000000"/>
                </a:solidFill>
                <a:latin typeface="Arial"/>
              </a:rPr>
              <a:t>• Driver Assistance (ADAS): </a:t>
            </a:r>
            <a:r>
              <a:rPr sz="1100" b="0">
                <a:solidFill>
                  <a:srgbClr val="232323"/>
                </a:solidFill>
                <a:latin typeface="Arial"/>
              </a:rPr>
              <a:t>Intelligent terrain HUD and active collision prevention in dense fog.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120640" y="1188720"/>
            <a:ext cx="18288" cy="5120640"/>
          </a:xfrm>
          <a:prstGeom prst="rect">
            <a:avLst/>
          </a:prstGeom>
          <a:solidFill>
            <a:srgbClr val="C3C3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394960" y="1143000"/>
            <a:ext cx="1920240" cy="457200"/>
          </a:xfrm>
          <a:prstGeom prst="roundRect">
            <a:avLst/>
          </a:prstGeom>
          <a:solidFill>
            <a:srgbClr val="006F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 u="sng">
                <a:solidFill>
                  <a:srgbClr val="FFFFFF"/>
                </a:solidFill>
                <a:latin typeface="Arial"/>
              </a:defRPr>
            </a:pPr>
            <a:r>
              <a:t>Benefits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94960" y="1691640"/>
            <a:ext cx="6217920" cy="16459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000000"/>
                </a:solidFill>
                <a:latin typeface="Arial"/>
              </a:rPr>
              <a:t>• 66.2% Memory Reduction: </a:t>
            </a:r>
            <a:r>
              <a:rPr sz="1100" b="0">
                <a:solidFill>
                  <a:srgbClr val="232323"/>
                </a:solidFill>
                <a:latin typeface="Arial"/>
              </a:rPr>
              <a:t>Active planning window / ROI cells drop from 2,888 to 976 via foveated concentration.</a:t>
            </a:r>
          </a:p>
          <a:p>
            <a:pPr>
              <a:spcAft>
                <a:spcPts val="200"/>
              </a:spcAft>
            </a:pPr>
            <a:r>
              <a:rPr sz="1100" b="1">
                <a:solidFill>
                  <a:srgbClr val="000000"/>
                </a:solidFill>
                <a:latin typeface="Arial"/>
              </a:rPr>
              <a:t>• 4.8x Faster Latency: </a:t>
            </a:r>
            <a:r>
              <a:rPr sz="1100" b="0">
                <a:solidFill>
                  <a:srgbClr val="232323"/>
                </a:solidFill>
                <a:latin typeface="Arial"/>
              </a:rPr>
              <a:t>Down from 115.94 ms to 24.23 ms (41.3 FPS) on NVIDIA Jetson Orin Nano (8GB, 15W mode).</a:t>
            </a:r>
          </a:p>
          <a:p>
            <a:pPr>
              <a:spcAft>
                <a:spcPts val="200"/>
              </a:spcAft>
            </a:pPr>
            <a:r>
              <a:rPr sz="1100" b="1">
                <a:solidFill>
                  <a:srgbClr val="000000"/>
                </a:solidFill>
                <a:latin typeface="Arial"/>
              </a:rPr>
              <a:t>• Full 2.5D Elevation Profile: </a:t>
            </a:r>
            <a:r>
              <a:rPr sz="1100" b="0">
                <a:solidFill>
                  <a:srgbClr val="232323"/>
                </a:solidFill>
                <a:latin typeface="Arial"/>
              </a:rPr>
              <a:t>Preserves critical ground slope, curbs &amp; height without voxel clutter.</a:t>
            </a:r>
          </a:p>
          <a:p>
            <a:pPr>
              <a:spcAft>
                <a:spcPts val="200"/>
              </a:spcAft>
            </a:pPr>
            <a:r>
              <a:rPr sz="1100" b="1">
                <a:solidFill>
                  <a:srgbClr val="000000"/>
                </a:solidFill>
                <a:latin typeface="Arial"/>
              </a:rPr>
              <a:t>• Verified Path Traversability: </a:t>
            </a:r>
            <a:r>
              <a:rPr sz="1100" b="0">
                <a:solidFill>
                  <a:srgbClr val="232323"/>
                </a:solidFill>
                <a:latin typeface="Arial"/>
              </a:rPr>
              <a:t>817 safe corridor cells verified with smooth 10 Hz Pure Pursuit steering.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5394960" y="3657600"/>
          <a:ext cx="6217920" cy="2514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280160"/>
                <a:gridCol w="1554480"/>
                <a:gridCol w="1554480"/>
              </a:tblGrid>
              <a:tr h="50292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Evaluation Metric</a:t>
                      </a:r>
                    </a:p>
                  </a:txBody>
                  <a:tcPr anchor="ctr"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Uniform Grid</a:t>
                      </a:r>
                    </a:p>
                  </a:txBody>
                  <a:tcPr anchor="ctr"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TeraPulse Foveated</a:t>
                      </a:r>
                    </a:p>
                  </a:txBody>
                  <a:tcPr anchor="ctr">
                    <a:solidFill>
                      <a:srgbClr val="006F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Practical Advantage</a:t>
                      </a:r>
                    </a:p>
                  </a:txBody>
                  <a:tcPr anchor="ctr">
                    <a:solidFill>
                      <a:srgbClr val="006FC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Active Planning Window / ROI Cells</a:t>
                      </a:r>
                    </a:p>
                  </a:txBody>
                  <a:tcPr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2,888 cells</a:t>
                      </a:r>
                    </a:p>
                  </a:txBody>
                  <a:tcPr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FC0"/>
                          </a:solidFill>
                          <a:latin typeface="Arial"/>
                        </a:defRPr>
                      </a:pPr>
                      <a:r>
                        <a:t>976 cells</a:t>
                      </a:r>
                    </a:p>
                  </a:txBody>
                  <a:tcPr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FC0"/>
                          </a:solidFill>
                          <a:latin typeface="Arial"/>
                        </a:defRPr>
                      </a:pPr>
                      <a:r>
                        <a:t>66.2% RAM Saved</a:t>
                      </a:r>
                    </a:p>
                  </a:txBody>
                  <a:tcPr anchor="ctr">
                    <a:solidFill>
                      <a:srgbClr val="F5F8F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Edge Compute Latency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115.94 ms (Desktop CPU)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FC0"/>
                          </a:solidFill>
                          <a:latin typeface="Arial"/>
                        </a:defRPr>
                      </a:pPr>
                      <a:r>
                        <a:t>24.23 ms (Jetson Orin)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FC0"/>
                          </a:solidFill>
                          <a:latin typeface="Arial"/>
                        </a:defRPr>
                      </a:pPr>
                      <a:r>
                        <a:t>4.8x Real-Time Edge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Benchmark Platform</a:t>
                      </a:r>
                    </a:p>
                  </a:txBody>
                  <a:tcPr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High-End Desktop GPU</a:t>
                      </a:r>
                    </a:p>
                  </a:txBody>
                  <a:tcPr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FC0"/>
                          </a:solidFill>
                          <a:latin typeface="Arial"/>
                        </a:defRPr>
                      </a:pPr>
                      <a:r>
                        <a:t>Jetson Orin Nano (15W)</a:t>
                      </a:r>
                    </a:p>
                  </a:txBody>
                  <a:tcPr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FC0"/>
                          </a:solidFill>
                          <a:latin typeface="Arial"/>
                        </a:defRPr>
                      </a:pPr>
                      <a:r>
                        <a:t>True Edge Deployment</a:t>
                      </a:r>
                    </a:p>
                  </a:txBody>
                  <a:tcPr anchor="ctr">
                    <a:solidFill>
                      <a:srgbClr val="F5F8F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Path Generation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Delayed Waypoints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FC0"/>
                          </a:solidFill>
                          <a:latin typeface="Arial"/>
                        </a:defRPr>
                      </a:pPr>
                      <a:r>
                        <a:t>10 Hz Dynamic Telemetry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FC0"/>
                          </a:solidFill>
                          <a:latin typeface="Arial"/>
                        </a:defRPr>
                      </a:pPr>
                      <a:r>
                        <a:t>Safe Agile Steering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65760" y="201168"/>
            <a:ext cx="1280160" cy="77724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8063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>
              <a:defRPr sz="1200" b="1">
                <a:solidFill>
                  <a:srgbClr val="000000"/>
                </a:solidFill>
                <a:latin typeface="Arial"/>
              </a:defRPr>
            </a:pPr>
            <a:r>
              <a:t>TERA</a:t>
            </a:r>
            <a:br/>
            <a:r>
              <a:t>PULSE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148840" y="256032"/>
            <a:ext cx="7589520" cy="658368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>
            <a:spAutoFit/>
          </a:bodyPr>
          <a:lstStyle/>
          <a:p>
            <a:pPr algn="ctr">
              <a:defRPr sz="2500" b="1">
                <a:solidFill>
                  <a:srgbClr val="000000"/>
                </a:solidFill>
                <a:latin typeface="Times New Roman"/>
              </a:defRPr>
            </a:pPr>
            <a:r>
              <a:t>RESEARCH AND REFERENCES</a:t>
            </a:r>
          </a:p>
        </p:txBody>
      </p:sp>
      <p:pic>
        <p:nvPicPr>
          <p:cNvPr id="4" name="Picture 3" descr="si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0" y="164592"/>
            <a:ext cx="1508760" cy="712897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06F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 rIns="548640"/>
          <a:lstStyle/>
          <a:p>
            <a:pPr algn="ctr">
              <a:defRPr sz="1100">
                <a:solidFill>
                  <a:srgbClr val="FFFFFF"/>
                </a:solidFill>
                <a:latin typeface="Arial"/>
              </a:defRPr>
            </a:pPr>
            <a:r>
              <a:t>@SIH Idea submission- Template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547104"/>
            <a:ext cx="5486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188720"/>
            <a:ext cx="4389120" cy="4114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900" b="1" u="sng">
                <a:solidFill>
                  <a:srgbClr val="1F487C"/>
                </a:solidFill>
                <a:latin typeface="Arial"/>
              </a:defRPr>
            </a:pPr>
            <a:r>
              <a:t>Research Areas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45920"/>
            <a:ext cx="4389120" cy="16459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000000"/>
                </a:solidFill>
                <a:latin typeface="Arial"/>
              </a:rPr>
              <a:t>• LiDAR Point Cloud Processing: </a:t>
            </a:r>
            <a:r>
              <a:rPr sz="1100" b="0">
                <a:solidFill>
                  <a:srgbClr val="232323"/>
                </a:solidFill>
                <a:latin typeface="Arial"/>
              </a:rPr>
              <a:t>Statistical outlier removal &amp; RANSAC ground plane fit.</a:t>
            </a:r>
          </a:p>
          <a:p>
            <a:pPr>
              <a:spcAft>
                <a:spcPts val="200"/>
              </a:spcAft>
            </a:pPr>
            <a:r>
              <a:rPr sz="1100" b="1">
                <a:solidFill>
                  <a:srgbClr val="000000"/>
                </a:solidFill>
                <a:latin typeface="Arial"/>
              </a:rPr>
              <a:t>• 2.5D Elevation Mapping: </a:t>
            </a:r>
            <a:r>
              <a:rPr sz="1100" b="0">
                <a:solidFill>
                  <a:srgbClr val="232323"/>
                </a:solidFill>
                <a:latin typeface="Arial"/>
              </a:rPr>
              <a:t>Robot-centric height &amp; slope mapping for rough terrain.</a:t>
            </a:r>
          </a:p>
          <a:p>
            <a:pPr>
              <a:spcAft>
                <a:spcPts val="200"/>
              </a:spcAft>
            </a:pPr>
            <a:r>
              <a:rPr sz="1100" b="1">
                <a:solidFill>
                  <a:srgbClr val="000000"/>
                </a:solidFill>
                <a:latin typeface="Arial"/>
              </a:rPr>
              <a:t>• Semantic Segmentation: </a:t>
            </a:r>
            <a:r>
              <a:rPr sz="1100" b="0">
                <a:solidFill>
                  <a:srgbClr val="232323"/>
                </a:solidFill>
                <a:latin typeface="Arial"/>
              </a:rPr>
              <a:t>Quantized RandLA-Net (1.25M params, INT8 TensorRT, ~8.4 ms inference).</a:t>
            </a:r>
          </a:p>
          <a:p>
            <a:pPr>
              <a:spcAft>
                <a:spcPts val="200"/>
              </a:spcAft>
            </a:pPr>
            <a:r>
              <a:rPr sz="1100" b="1">
                <a:solidFill>
                  <a:srgbClr val="000000"/>
                </a:solidFill>
                <a:latin typeface="Arial"/>
              </a:rPr>
              <a:t>• Autonomous Navigation: </a:t>
            </a:r>
            <a:r>
              <a:rPr sz="1100" b="0">
                <a:solidFill>
                  <a:srgbClr val="232323"/>
                </a:solidFill>
                <a:latin typeface="Arial"/>
              </a:rPr>
              <a:t>A* heuristic planning &amp; Pure Pursuit vehicle kinematics.</a:t>
            </a:r>
          </a:p>
          <a:p>
            <a:pPr>
              <a:spcAft>
                <a:spcPts val="200"/>
              </a:spcAft>
            </a:pPr>
            <a:r>
              <a:rPr sz="1100" b="1">
                <a:solidFill>
                  <a:srgbClr val="000000"/>
                </a:solidFill>
                <a:latin typeface="Arial"/>
              </a:rPr>
              <a:t>• Adaptive Spatial Hashing: </a:t>
            </a:r>
            <a:r>
              <a:rPr sz="1100" b="0">
                <a:solidFill>
                  <a:srgbClr val="232323"/>
                </a:solidFill>
                <a:latin typeface="Arial"/>
              </a:rPr>
              <a:t>Foveated variable-resolution concentric indexing.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474720"/>
            <a:ext cx="4389120" cy="4114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900" b="1" u="sng">
                <a:solidFill>
                  <a:srgbClr val="1F487C"/>
                </a:solidFill>
                <a:latin typeface="Arial"/>
              </a:defRPr>
            </a:pPr>
            <a:r>
              <a:t>References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931920"/>
            <a:ext cx="4389120" cy="23774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300"/>
              </a:spcAft>
            </a:pPr>
            <a:r>
              <a:rPr sz="1100" b="1">
                <a:solidFill>
                  <a:srgbClr val="000000"/>
                </a:solidFill>
                <a:latin typeface="Arial"/>
              </a:rPr>
              <a:t>• KITTI Vision Suite: </a:t>
            </a:r>
            <a:r>
              <a:rPr sz="1100" b="0">
                <a:solidFill>
                  <a:srgbClr val="232323"/>
                </a:solidFill>
                <a:latin typeface="Arial"/>
              </a:rPr>
              <a:t>Geiger et al., Velodyne HDL-64E LiDAR benchmark.</a:t>
            </a:r>
          </a:p>
          <a:p>
            <a:pPr>
              <a:spcAft>
                <a:spcPts val="300"/>
              </a:spcAft>
            </a:pPr>
            <a:r>
              <a:rPr sz="1100" b="1">
                <a:solidFill>
                  <a:srgbClr val="000000"/>
                </a:solidFill>
                <a:latin typeface="Arial"/>
              </a:rPr>
              <a:t>• ETH Zurich Mapping: </a:t>
            </a:r>
            <a:r>
              <a:rPr sz="1100" b="0">
                <a:solidFill>
                  <a:srgbClr val="232323"/>
                </a:solidFill>
                <a:latin typeface="Arial"/>
              </a:rPr>
              <a:t>P. Fankhauser et al. (IEEE IROS), Robot-Centric Elevation Mapping.</a:t>
            </a:r>
          </a:p>
          <a:p>
            <a:pPr>
              <a:spcAft>
                <a:spcPts val="300"/>
              </a:spcAft>
            </a:pPr>
            <a:r>
              <a:rPr sz="1100" b="1">
                <a:solidFill>
                  <a:srgbClr val="000000"/>
                </a:solidFill>
                <a:latin typeface="Arial"/>
              </a:rPr>
              <a:t>• CMU Pure Pursuit: </a:t>
            </a:r>
            <a:r>
              <a:rPr sz="1100" b="0">
                <a:solidFill>
                  <a:srgbClr val="232323"/>
                </a:solidFill>
                <a:latin typeface="Arial"/>
              </a:rPr>
              <a:t>R. C. Coulter (Carnegie Mellon), Pure Pursuit Path Tracking.</a:t>
            </a:r>
          </a:p>
          <a:p>
            <a:pPr>
              <a:spcAft>
                <a:spcPts val="300"/>
              </a:spcAft>
            </a:pPr>
            <a:r>
              <a:rPr sz="1100" b="1">
                <a:solidFill>
                  <a:srgbClr val="000000"/>
                </a:solidFill>
                <a:latin typeface="Arial"/>
              </a:rPr>
              <a:t>• Point Cloud ML: </a:t>
            </a:r>
            <a:r>
              <a:rPr sz="1100" b="0">
                <a:solidFill>
                  <a:srgbClr val="232323"/>
                </a:solidFill>
                <a:latin typeface="Arial"/>
              </a:rPr>
              <a:t>Q. Hu et al. (CVPR), RandLA-Net Point Cloud Segmentation (INT8 TensorRT).</a:t>
            </a:r>
          </a:p>
          <a:p>
            <a:pPr>
              <a:spcAft>
                <a:spcPts val="300"/>
              </a:spcAft>
            </a:pPr>
            <a:r>
              <a:rPr sz="1100" b="1">
                <a:solidFill>
                  <a:srgbClr val="000000"/>
                </a:solidFill>
                <a:latin typeface="Arial"/>
              </a:rPr>
              <a:t>• Open-Source Tools: </a:t>
            </a:r>
            <a:r>
              <a:rPr sz="1100" b="0">
                <a:solidFill>
                  <a:srgbClr val="232323"/>
                </a:solidFill>
                <a:latin typeface="Arial"/>
              </a:rPr>
              <a:t>Open3D, PyTorch, NumPy, Flask REST APIs.</a:t>
            </a:r>
          </a:p>
        </p:txBody>
      </p:sp>
      <p:pic>
        <p:nvPicPr>
          <p:cNvPr id="11" name="Picture 10" descr="colored_research_pipelin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2080" y="1188720"/>
            <a:ext cx="6309360" cy="3521503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212080" y="4709160"/>
            <a:ext cx="4572000" cy="4114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900" b="1" u="sng">
                <a:solidFill>
                  <a:srgbClr val="1F487C"/>
                </a:solidFill>
                <a:latin typeface="Arial"/>
              </a:defRPr>
            </a:pPr>
            <a:r>
              <a:t>Project Deliverables &amp; Live Prototype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12080" y="5120640"/>
            <a:ext cx="4572000" cy="12801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200"/>
              </a:spcAft>
            </a:pPr>
            <a:r>
              <a:rPr sz="1000" b="1">
                <a:solidFill>
                  <a:srgbClr val="000000"/>
                </a:solidFill>
                <a:latin typeface="Arial"/>
              </a:rPr>
              <a:t>• Live Working Prototype: </a:t>
            </a:r>
            <a:r>
              <a:rPr sz="1000" b="1" u="sng">
                <a:solidFill>
                  <a:srgbClr val="006FC0"/>
                </a:solidFill>
                <a:latin typeface="Arial"/>
                <a:hlinkClick r:id="rId4"/>
              </a:rPr>
              <a:t>https://abhayverma628.github.io/SIH26053_Lidar/</a:t>
            </a:r>
          </a:p>
          <a:p>
            <a:pPr>
              <a:spcAft>
                <a:spcPts val="200"/>
              </a:spcAft>
            </a:pPr>
            <a:r>
              <a:rPr sz="1000" b="1">
                <a:solidFill>
                  <a:srgbClr val="000000"/>
                </a:solidFill>
                <a:latin typeface="Arial"/>
              </a:rPr>
              <a:t>• GitHub Repository: </a:t>
            </a:r>
            <a:r>
              <a:rPr sz="1000" b="1" u="sng">
                <a:solidFill>
                  <a:srgbClr val="006FC0"/>
                </a:solidFill>
                <a:latin typeface="Arial"/>
                <a:hlinkClick r:id="rId5"/>
              </a:rPr>
              <a:t>https://github.com/AbhayVerma628/SIH26053_Lidar</a:t>
            </a:r>
          </a:p>
          <a:p>
            <a:pPr>
              <a:spcAft>
                <a:spcPts val="200"/>
              </a:spcAft>
            </a:pPr>
            <a:r>
              <a:rPr sz="1000" b="1">
                <a:solidFill>
                  <a:srgbClr val="000000"/>
                </a:solidFill>
                <a:latin typeface="Arial"/>
              </a:rPr>
              <a:t>• Interactive Web Simulator: </a:t>
            </a:r>
            <a:r>
              <a:rPr sz="1000" b="0">
                <a:solidFill>
                  <a:srgbClr val="232323"/>
                </a:solidFill>
                <a:latin typeface="Arial"/>
              </a:rPr>
              <a:t>60 FPS Canvas with real-time foveation &amp; A* route</a:t>
            </a:r>
          </a:p>
          <a:p>
            <a:pPr>
              <a:spcAft>
                <a:spcPts val="200"/>
              </a:spcAft>
            </a:pPr>
            <a:r>
              <a:rPr sz="1000" b="1">
                <a:solidFill>
                  <a:srgbClr val="000000"/>
                </a:solidFill>
                <a:latin typeface="Arial"/>
              </a:rPr>
              <a:t>• Telemetry &amp; Verification: </a:t>
            </a:r>
            <a:r>
              <a:rPr sz="1000" b="0">
                <a:solidFill>
                  <a:srgbClr val="232323"/>
                </a:solidFill>
                <a:latin typeface="Arial"/>
              </a:rPr>
              <a:t>5/5 unit tests passed, 10 Hz vehicle telemetry</a:t>
            </a:r>
          </a:p>
        </p:txBody>
      </p:sp>
      <p:pic>
        <p:nvPicPr>
          <p:cNvPr id="14" name="Picture 13" descr="prototype_q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49840" y="4800600"/>
            <a:ext cx="1188720" cy="118872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0058400" y="598932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 b="1">
                <a:solidFill>
                  <a:srgbClr val="006FC0"/>
                </a:solidFill>
                <a:latin typeface="Arial"/>
              </a:defRPr>
            </a:pPr>
            <a:r>
              <a:t>Scan for Live Demo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