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04672"/>
            <a:ext cx="9601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rial"/>
              </a:rPr>
              <a:t>Adaptive Foveated 2.5D Semantic Mapping
</a:t>
            </a:r>
            <a:r>
              <a:rPr sz="2600" b="1">
                <a:solidFill>
                  <a:srgbClr val="1D4ED8"/>
                </a:solidFill>
                <a:latin typeface="Arial"/>
              </a:rPr>
              <a:t>for Autonomous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084831"/>
            <a:ext cx="3959352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2267712"/>
            <a:ext cx="658368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Problem Statement ID –</a:t>
            </a:r>
            <a:r>
              <a:rPr sz="1300" b="0">
                <a:solidFill>
                  <a:srgbClr val="0F172A"/>
                </a:solidFill>
                <a:latin typeface="Arial"/>
              </a:rPr>
              <a:t> 26053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Problem Statement Title –</a:t>
            </a:r>
            <a:r>
              <a:rPr sz="1300" b="0">
                <a:solidFill>
                  <a:srgbClr val="0F172A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Theme –</a:t>
            </a:r>
            <a:r>
              <a:rPr sz="1300" b="0">
                <a:solidFill>
                  <a:srgbClr val="0F172A"/>
                </a:solidFill>
                <a:latin typeface="Arial"/>
              </a:rPr>
              <a:t> Smart Vehicles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PS Category –</a:t>
            </a:r>
            <a:r>
              <a:rPr sz="1300" b="0">
                <a:solidFill>
                  <a:srgbClr val="0F172A"/>
                </a:solidFill>
                <a:latin typeface="Arial"/>
              </a:rPr>
              <a:t> Software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Team ID –</a:t>
            </a:r>
            <a:r>
              <a:rPr sz="1300" b="0">
                <a:solidFill>
                  <a:srgbClr val="0F172A"/>
                </a:solidFill>
                <a:latin typeface="Arial"/>
              </a:rPr>
              <a:t> TBA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Team Name –</a:t>
            </a:r>
            <a:r>
              <a:rPr sz="1300" b="0">
                <a:solidFill>
                  <a:srgbClr val="0F172A"/>
                </a:solidFill>
                <a:latin typeface="Arial"/>
              </a:rPr>
              <a:t> TeraPulse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Team Members –</a:t>
            </a:r>
            <a:r>
              <a:rPr sz="1300" b="0">
                <a:solidFill>
                  <a:srgbClr val="0F172A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•  Institute –</a:t>
            </a:r>
            <a:r>
              <a:rPr sz="1300" b="0">
                <a:solidFill>
                  <a:srgbClr val="0F172A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7" name="Picture 6" descr="page_1_0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148840"/>
            <a:ext cx="4389120" cy="46938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@SIH Idea submission- Template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9436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800" b="1">
                <a:solidFill>
                  <a:srgbClr val="1D4ED8"/>
                </a:solidFill>
                <a:latin typeface="Arial"/>
              </a:defRPr>
            </a:pPr>
            <a:r>
              <a:t>❖ Proposed Solution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2.5D Semantic Elevation Map: </a:t>
            </a:r>
            <a:r>
              <a:rPr sz="1150">
                <a:solidFill>
                  <a:srgbClr val="1E293B"/>
                </a:solidFill>
                <a:latin typeface="Arial"/>
              </a:rPr>
              <a:t>Generates an efficient multi-resolution heightmap from raw 3D LiDAR point clouds.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High-Precision Near Field (0–10 m): </a:t>
            </a:r>
            <a:r>
              <a:rPr sz="1150">
                <a:solidFill>
                  <a:srgbClr val="1E293B"/>
                </a:solidFill>
                <a:latin typeface="Arial"/>
              </a:rPr>
              <a:t>Fine 0.25 m cells for sub-meter obstacle clearance, terrain slope, and reactive steering.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Bandwidth-Saving Far Field: </a:t>
            </a:r>
            <a:r>
              <a:rPr sz="1150">
                <a:solidFill>
                  <a:srgbClr val="1E293B"/>
                </a:solidFill>
                <a:latin typeface="Arial"/>
              </a:rPr>
              <a:t>Gradually reduces to 0.75 m &amp; 2.0 m resolution to slash unnecessary distant computations.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Full Elevation Profiling: </a:t>
            </a:r>
            <a:r>
              <a:rPr sz="1150">
                <a:solidFill>
                  <a:srgbClr val="1E293B"/>
                </a:solidFill>
                <a:latin typeface="Arial"/>
              </a:rPr>
              <a:t>Preserves height, step slope &amp; obstacle boundaries without full 3D voxel memory overload.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Real-Time Terrain Intelligence: </a:t>
            </a:r>
            <a:r>
              <a:rPr sz="1150">
                <a:solidFill>
                  <a:srgbClr val="1E293B"/>
                </a:solidFill>
                <a:latin typeface="Arial"/>
              </a:rPr>
              <a:t>Accurately classifies drivable ground, static obstacles, and dynamic moving objects.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D4ED8"/>
                </a:solidFill>
                <a:latin typeface="Arial"/>
              </a:rPr>
              <a:t>• Autonomous Navigation Stack: </a:t>
            </a:r>
            <a:r>
              <a:rPr sz="1150">
                <a:solidFill>
                  <a:srgbClr val="1E293B"/>
                </a:solidFill>
                <a:latin typeface="Arial"/>
              </a:rPr>
              <a:t>Enables instant A* heuristic path planning and smooth Pure Pursuit vehicle steering.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120640"/>
            <a:ext cx="5943600" cy="12344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pPr algn="ctr">
              <a:spcAft>
                <a:spcPts val="400"/>
              </a:spcAft>
              <a:defRPr sz="1500" b="1">
                <a:solidFill>
                  <a:srgbClr val="1D4ED8"/>
                </a:solidFill>
                <a:latin typeface="Arial"/>
              </a:defRPr>
            </a:pPr>
            <a:r>
              <a:t>❖ Innovation &amp; Uniqueness</a:t>
            </a:r>
          </a:p>
          <a:p>
            <a:r>
              <a:rPr b="1">
                <a:solidFill>
                  <a:srgbClr val="0F172A"/>
                </a:solidFill>
              </a:rPr>
              <a:t>Foveated adaptive resolution </a:t>
            </a:r>
            <a:r>
              <a:rPr>
                <a:solidFill>
                  <a:srgbClr val="1E293B"/>
                </a:solidFill>
              </a:rPr>
              <a:t>focuses computational resources where they matter most — slashing memory by </a:t>
            </a:r>
            <a:r>
              <a:rPr b="1">
                <a:solidFill>
                  <a:srgbClr val="047857"/>
                </a:solidFill>
              </a:rPr>
              <a:t>66.2% </a:t>
            </a:r>
            <a:r>
              <a:rPr>
                <a:solidFill>
                  <a:srgbClr val="1E293B"/>
                </a:solidFill>
              </a:rPr>
              <a:t>and cutting latency to </a:t>
            </a:r>
            <a:r>
              <a:rPr b="1">
                <a:solidFill>
                  <a:srgbClr val="1D4ED8"/>
                </a:solidFill>
              </a:rPr>
              <a:t>24.23 ms (&gt;35 FPS).</a:t>
            </a:r>
          </a:p>
        </p:txBody>
      </p:sp>
      <p:sp>
        <p:nvSpPr>
          <p:cNvPr id="8" name="Oval 7"/>
          <p:cNvSpPr/>
          <p:nvPr/>
        </p:nvSpPr>
        <p:spPr>
          <a:xfrm>
            <a:off x="6858000" y="1508760"/>
            <a:ext cx="4754880" cy="4754880"/>
          </a:xfrm>
          <a:prstGeom prst="ellipse">
            <a:avLst/>
          </a:prstGeom>
          <a:solidFill>
            <a:srgbClr val="BEDCFA"/>
          </a:solidFill>
          <a:ln w="3175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92440" y="2743200"/>
            <a:ext cx="2286000" cy="2286000"/>
          </a:xfrm>
          <a:prstGeom prst="ellipse">
            <a:avLst/>
          </a:prstGeom>
          <a:solidFill>
            <a:srgbClr val="146EC8"/>
          </a:solidFill>
          <a:ln w="3175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06840" y="365760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05156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5806440"/>
            <a:ext cx="365760" cy="256032"/>
          </a:xfrm>
          <a:prstGeom prst="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5779008"/>
            <a:ext cx="45720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050">
                <a:solidFill>
                  <a:srgbClr val="1D4ED8"/>
                </a:solidFill>
              </a:rPr>
              <a:t>High resolution near vehicle </a:t>
            </a:r>
            <a:r>
              <a:rPr sz="1050">
                <a:solidFill>
                  <a:srgbClr val="1E293B"/>
                </a:solidFill>
              </a:rPr>
              <a:t>(near-field: 0.25 m bubble)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6144768"/>
            <a:ext cx="365760" cy="256032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6108192"/>
            <a:ext cx="45720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Lower resolution for distant regions </a:t>
            </a:r>
            <a:r>
              <a:rPr sz="1050">
                <a:solidFill>
                  <a:srgbClr val="1E293B"/>
                </a:solidFill>
              </a:rPr>
              <a:t>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@SIH Idea submission- Template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⚙️ System Workflow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[1]  LiDAR Point Cloud Ingestion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2514600" y="2185416"/>
            <a:ext cx="274320" cy="18288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[2]  Preprocessing &amp; Noise Removal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514600" y="2980944"/>
            <a:ext cx="274320" cy="18288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218687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[3]  Deep Semantic Classification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14600" y="3776472"/>
            <a:ext cx="274320" cy="18288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14215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[4]  Foveated Adaptive Grid Generation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514600" y="4572000"/>
            <a:ext cx="274320" cy="18288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09744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[5]  2.5D Semantic Elevation Map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514600" y="5367528"/>
            <a:ext cx="274320" cy="18288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605272"/>
            <a:ext cx="4206240" cy="53035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[6]  Real-Time Visualization &amp; Navigation</a:t>
            </a:r>
          </a:p>
        </p:txBody>
      </p:sp>
      <p:pic>
        <p:nvPicPr>
          <p:cNvPr id="18" name="Picture 17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43000"/>
            <a:ext cx="6766560" cy="40872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37760" y="4617720"/>
            <a:ext cx="676656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pPr algn="ctr">
              <a:spcAft>
                <a:spcPts val="400"/>
              </a:spcAft>
              <a:defRPr sz="1350" b="1">
                <a:solidFill>
                  <a:srgbClr val="1D4ED8"/>
                </a:solidFill>
                <a:latin typeface="Arial"/>
              </a:defRPr>
            </a:pPr>
            <a:r>
              <a:t>💻 Technologies &amp; Software Implementation: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Core Stack: </a:t>
            </a:r>
            <a:r>
              <a:rPr sz="1050">
                <a:solidFill>
                  <a:srgbClr val="1E293B"/>
                </a:solidFill>
                <a:latin typeface="Arial"/>
              </a:rPr>
              <a:t>Python 3.12, NumPy (vectorized hashing), Open3D (point cloud geometry)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Semantic Intelligence: </a:t>
            </a:r>
            <a:r>
              <a:rPr sz="1050">
                <a:solidFill>
                  <a:srgbClr val="1E293B"/>
                </a:solidFill>
                <a:latin typeface="Arial"/>
              </a:rPr>
              <a:t>4-Class ML Classifier (Ground, Static Obstacles, Dynamic Vehicles)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Autonomous Motion: </a:t>
            </a:r>
            <a:r>
              <a:rPr sz="1050">
                <a:solidFill>
                  <a:srgbClr val="1E293B"/>
                </a:solidFill>
                <a:latin typeface="Arial"/>
              </a:rPr>
              <a:t>A* Graph Search, Catmull-Rom Splines, Ackermann Pure Pursuit Kinematics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Live Web Dashboard: </a:t>
            </a:r>
            <a:r>
              <a:rPr sz="1050">
                <a:solidFill>
                  <a:srgbClr val="1E293B"/>
                </a:solidFill>
                <a:latin typeface="Arial"/>
              </a:rPr>
              <a:t>Flask REST API, 60 FPS HTML5 Canvas with dynamic moving-car foveation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2377440" cy="438912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✔ Feasibility &amp;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3035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047857"/>
                </a:solidFill>
              </a:rPr>
              <a:t>• Open-Source &amp; Standard Datasets: </a:t>
            </a:r>
            <a:r>
              <a:rPr sz="1100">
                <a:solidFill>
                  <a:srgbClr val="1E293B"/>
                </a:solidFill>
              </a:rPr>
              <a:t>Built on widely tested LiDAR datasets and open tools.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47857"/>
                </a:solidFill>
              </a:rPr>
              <a:t>• Rapid Edge Prototype: </a:t>
            </a:r>
            <a:r>
              <a:rPr sz="1100">
                <a:solidFill>
                  <a:srgbClr val="1E293B"/>
                </a:solidFill>
              </a:rPr>
              <a:t>Python 3.12, Open3D, and PyTorch enable agile modular development.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47857"/>
                </a:solidFill>
              </a:rPr>
              <a:t>• Edge Compute Efficiency: </a:t>
            </a:r>
            <a:r>
              <a:rPr sz="1100">
                <a:solidFill>
                  <a:srgbClr val="1E293B"/>
                </a:solidFill>
              </a:rPr>
              <a:t>Adaptive resolution drastically reduces RAM and latency.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047857"/>
                </a:solidFill>
              </a:rPr>
              <a:t>• Independent Subsystem Verification: </a:t>
            </a:r>
            <a:r>
              <a:rPr sz="1100">
                <a:solidFill>
                  <a:srgbClr val="1E293B"/>
                </a:solidFill>
              </a:rPr>
              <a:t>Modular pipeline with 5/5 automated unit tests passing.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377440" cy="43891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⚠ Tactical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96512"/>
            <a:ext cx="530352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E11D48"/>
                </a:solidFill>
              </a:rPr>
              <a:t>• Heavy LiDAR Data Deluge: </a:t>
            </a:r>
            <a:r>
              <a:rPr sz="1100">
                <a:solidFill>
                  <a:srgbClr val="1E293B"/>
                </a:solidFill>
              </a:rPr>
              <a:t>Real-time processing of 1.5M points/sec from 10–20 Hz sweeps.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E11D48"/>
                </a:solidFill>
              </a:rPr>
              <a:t>• Unstructured Off-Road Terrain: </a:t>
            </a:r>
            <a:r>
              <a:rPr sz="1100">
                <a:solidFill>
                  <a:srgbClr val="1E293B"/>
                </a:solidFill>
              </a:rPr>
              <a:t>Accurate terrain segmentation in dusty, rocky environments.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E11D48"/>
                </a:solidFill>
              </a:rPr>
              <a:t>• Bridge / Underpass False Obstacles: </a:t>
            </a:r>
            <a:r>
              <a:rPr sz="1100">
                <a:solidFill>
                  <a:srgbClr val="1E293B"/>
                </a:solidFill>
              </a:rPr>
              <a:t>Preventing ceiling points from falsely blocking tunnels.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E11D48"/>
                </a:solidFill>
              </a:rPr>
              <a:t>• Preserving Geometry in Low-Res: </a:t>
            </a:r>
            <a:r>
              <a:rPr sz="1100">
                <a:solidFill>
                  <a:srgbClr val="1E293B"/>
                </a:solidFill>
              </a:rPr>
              <a:t>Retaining safety clearance while reducing distant cell detail.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115568"/>
            <a:ext cx="256032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🛡 Mitigation Strategies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45920"/>
            <a:ext cx="548640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1D4ED8"/>
                </a:solidFill>
              </a:rPr>
              <a:t>• Foveated Attention Hashing: </a:t>
            </a:r>
            <a:r>
              <a:rPr sz="1100">
                <a:solidFill>
                  <a:srgbClr val="1E293B"/>
                </a:solidFill>
              </a:rPr>
              <a:t>Focuses 0.25 m resolution in near-field for instant 24.23 ms execution.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1D4ED8"/>
                </a:solidFill>
              </a:rPr>
              <a:t>• SOR &amp; RANSAC Ground Fit: </a:t>
            </a:r>
            <a:r>
              <a:rPr sz="1100">
                <a:solidFill>
                  <a:srgbClr val="1E293B"/>
                </a:solidFill>
              </a:rPr>
              <a:t>Statistical filters eliminate dust scatter and extract clean ground plane.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1D4ED8"/>
                </a:solidFill>
              </a:rPr>
              <a:t>• Vertical Clearance Filtering: </a:t>
            </a:r>
            <a:r>
              <a:rPr sz="1100">
                <a:solidFill>
                  <a:srgbClr val="1E293B"/>
                </a:solidFill>
              </a:rPr>
              <a:t>Clips points &gt;2.2 m to allow safe tunnel traversal without 3D voxels.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1D4ED8"/>
                </a:solidFill>
              </a:rPr>
              <a:t>• Rigorous Verification: </a:t>
            </a:r>
            <a:r>
              <a:rPr sz="1100">
                <a:solidFill>
                  <a:srgbClr val="1E293B"/>
                </a:solidFill>
              </a:rPr>
              <a:t>Benchmarked on 20,672 points at &gt;35 FPS with zero crash failures.</a:t>
            </a:r>
          </a:p>
        </p:txBody>
      </p:sp>
      <p:pic>
        <p:nvPicPr>
          <p:cNvPr id="12" name="Picture 11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154680"/>
            <a:ext cx="5669280" cy="4165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274320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🎖 Strategic Defence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480560" cy="1508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Autonomous Tactical UGVs: </a:t>
            </a:r>
            <a:r>
              <a:rPr sz="1050">
                <a:solidFill>
                  <a:srgbClr val="1E293B"/>
                </a:solidFill>
              </a:rPr>
              <a:t>Border patrol (Ladakh/Siachen) &amp; minefield reconnaissance without soldier casualties.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Zero-Visibility Warfare: </a:t>
            </a:r>
            <a:r>
              <a:rPr sz="1050">
                <a:solidFill>
                  <a:srgbClr val="1E293B"/>
                </a:solidFill>
              </a:rPr>
              <a:t>LiDAR penetrates smoke, sandstorms, fog &amp; darkness where cameras fail.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Sub-Meter Hazard Detection: </a:t>
            </a:r>
            <a:r>
              <a:rPr sz="1050">
                <a:solidFill>
                  <a:srgbClr val="1E293B"/>
                </a:solidFill>
              </a:rPr>
              <a:t>Guarantees obstacle clearance in safety-critical vehicle zones.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Real-Time Terrain Intelligence: </a:t>
            </a:r>
            <a:r>
              <a:rPr sz="1050">
                <a:solidFill>
                  <a:srgbClr val="1E293B"/>
                </a:solidFill>
              </a:rPr>
              <a:t>Prevents roll-overs on steep inclines and hidden ditches.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2560320" cy="43891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🌐 Dual-Use 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48056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D97706"/>
                </a:solidFill>
              </a:rPr>
              <a:t>• Defence &amp; Security: </a:t>
            </a:r>
            <a:r>
              <a:rPr sz="1050">
                <a:solidFill>
                  <a:srgbClr val="1E293B"/>
                </a:solidFill>
              </a:rPr>
              <a:t>UGVs, logistics convoys &amp; border patrol rovers.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D97706"/>
                </a:solidFill>
              </a:rPr>
              <a:t>• Disaster Response: </a:t>
            </a:r>
            <a:r>
              <a:rPr sz="1050">
                <a:solidFill>
                  <a:srgbClr val="1E293B"/>
                </a:solidFill>
              </a:rPr>
              <a:t>Search-and-rescue rovers in earthquake rubble &amp; caves.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D97706"/>
                </a:solidFill>
              </a:rPr>
              <a:t>• Industrial Autonomy: </a:t>
            </a:r>
            <a:r>
              <a:rPr sz="1050">
                <a:solidFill>
                  <a:srgbClr val="1E293B"/>
                </a:solidFill>
              </a:rPr>
              <a:t>Autonomous tractors on farmland &amp; mining dump trucks.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2377440" cy="438912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⚡ Measurable 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94960"/>
            <a:ext cx="448056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• 66.2% Cell Reduction: </a:t>
            </a:r>
            <a:r>
              <a:rPr sz="1050">
                <a:solidFill>
                  <a:srgbClr val="1E293B"/>
                </a:solidFill>
              </a:rPr>
              <a:t>Slashing memory and compute load on embedded edge hardware.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• 4.8× Faster Latency: </a:t>
            </a:r>
            <a:r>
              <a:rPr sz="1050">
                <a:solidFill>
                  <a:srgbClr val="1E293B"/>
                </a:solidFill>
              </a:rPr>
              <a:t>Down from 115.94 ms to 24.23 ms for true 35+ FPS control.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• Full 2.5D Elevation: </a:t>
            </a:r>
            <a:r>
              <a:rPr sz="1050">
                <a:solidFill>
                  <a:srgbClr val="1E293B"/>
                </a:solidFill>
              </a:rPr>
              <a:t>Preserves slopes, roughness &amp; step heights without 3D voxels.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115568"/>
            <a:ext cx="649224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📸 Visual Impact: Raw Point Cloud vs Cleaned 2.5D Elevation Map</a:t>
            </a:r>
          </a:p>
        </p:txBody>
      </p:sp>
      <p:pic>
        <p:nvPicPr>
          <p:cNvPr id="13" name="Picture 12" descr="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508760"/>
            <a:ext cx="3246120" cy="24345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12080" y="3977639"/>
            <a:ext cx="32461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b="1" sz="1100">
                <a:solidFill>
                  <a:srgbClr val="0F172A"/>
                </a:solidFill>
              </a:rPr>
              <a:t>Raw LiDAR Scan </a:t>
            </a:r>
            <a:r>
              <a:rPr sz="1000">
                <a:solidFill>
                  <a:srgbClr val="64748B"/>
                </a:solidFill>
              </a:rPr>
              <a:t>(20,672 points with noise)</a:t>
            </a:r>
          </a:p>
        </p:txBody>
      </p:sp>
      <p:pic>
        <p:nvPicPr>
          <p:cNvPr id="15" name="Picture 14" descr="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508760"/>
            <a:ext cx="3246120" cy="24345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49640" y="3977639"/>
            <a:ext cx="32461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b="1" sz="1100">
                <a:solidFill>
                  <a:srgbClr val="047857"/>
                </a:solidFill>
              </a:rPr>
              <a:t>Filtered 2.5D Elevation Map </a:t>
            </a:r>
            <a:r>
              <a:rPr sz="1000">
                <a:solidFill>
                  <a:srgbClr val="64748B"/>
                </a:solidFill>
              </a:rPr>
              <a:t>(Drivable Ground Extracted)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4389120"/>
            <a:ext cx="6583680" cy="1965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pPr algn="ctr">
              <a:spcAft>
                <a:spcPts val="4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🏆 Production Performance Benchmark (KITTI Velodyne HDL-64E):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Active Stored Cells: </a:t>
            </a:r>
            <a:r>
              <a:rPr sz="1050">
                <a:solidFill>
                  <a:srgbClr val="1E293B"/>
                </a:solidFill>
                <a:latin typeface="Arial"/>
              </a:rPr>
              <a:t>Reduced from 2,888 (uniform) to 976 (adaptive) — </a:t>
            </a:r>
            <a:r>
              <a:rPr sz="1050" b="1">
                <a:solidFill>
                  <a:srgbClr val="047857"/>
                </a:solidFill>
                <a:latin typeface="Arial"/>
              </a:rPr>
              <a:t>66.2% Cell Reduction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Mapping Compute Time: </a:t>
            </a:r>
            <a:r>
              <a:rPr sz="1050">
                <a:solidFill>
                  <a:srgbClr val="1E293B"/>
                </a:solidFill>
                <a:latin typeface="Arial"/>
              </a:rPr>
              <a:t>Reduced from 115.94 ms to 24.23 ms — </a:t>
            </a:r>
            <a:r>
              <a:rPr sz="1050" b="1">
                <a:solidFill>
                  <a:srgbClr val="047857"/>
                </a:solidFill>
                <a:latin typeface="Arial"/>
              </a:rPr>
              <a:t>4.8× Latency Speedup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Traversable Corridor: </a:t>
            </a:r>
            <a:r>
              <a:rPr sz="1050">
                <a:solidFill>
                  <a:srgbClr val="1E293B"/>
                </a:solidFill>
                <a:latin typeface="Arial"/>
              </a:rPr>
              <a:t>817 safe cells (83.71%) accurately identified without collision risk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Autonomous Trajectory: </a:t>
            </a:r>
            <a:r>
              <a:rPr sz="1050">
                <a:solidFill>
                  <a:srgbClr val="1E293B"/>
                </a:solidFill>
                <a:latin typeface="Arial"/>
              </a:rPr>
              <a:t>47-cell A* path tracked smoothly via Pure Pursuit (10 Hz Telemetry)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@SIH Idea submission- Template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219456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📚 Research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1148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LiDAR Processing: </a:t>
            </a:r>
            <a:r>
              <a:rPr sz="1050">
                <a:solidFill>
                  <a:srgbClr val="1E293B"/>
                </a:solidFill>
              </a:rPr>
              <a:t>Point cloud filtering, SOR &amp; RANSAC ground estimation.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2.5D Elevation Mapping: </a:t>
            </a:r>
            <a:r>
              <a:rPr sz="1050">
                <a:solidFill>
                  <a:srgbClr val="1E293B"/>
                </a:solidFill>
              </a:rPr>
              <a:t>Robot-centric height &amp; slope representation.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Semantic Understanding: </a:t>
            </a:r>
            <a:r>
              <a:rPr sz="1050">
                <a:solidFill>
                  <a:srgbClr val="1E293B"/>
                </a:solidFill>
              </a:rPr>
              <a:t>Deep learning segmentation of large-scale point clouds.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Autonomous Navigation: </a:t>
            </a:r>
            <a:r>
              <a:rPr sz="1050">
                <a:solidFill>
                  <a:srgbClr val="1E293B"/>
                </a:solidFill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1D4ED8"/>
                </a:solidFill>
              </a:rPr>
              <a:t>• Adaptive Spatial Hashing: </a:t>
            </a:r>
            <a:r>
              <a:rPr sz="1050">
                <a:solidFill>
                  <a:srgbClr val="1E293B"/>
                </a:solidFill>
              </a:rPr>
              <a:t>Foveated variable-resolution concentric indexing.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256032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📖 Academic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411480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b="1" sz="1050">
                <a:solidFill>
                  <a:srgbClr val="0F172A"/>
                </a:solidFill>
              </a:rPr>
              <a:t>• KITTI Vision Suite: </a:t>
            </a:r>
            <a:r>
              <a:rPr sz="1050">
                <a:solidFill>
                  <a:srgbClr val="1E293B"/>
                </a:solidFill>
              </a:rPr>
              <a:t>Geiger et al. (Karlsruhe / Toyota Tech), Velodyne HDL-64E LiDAR benchmark.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0F172A"/>
                </a:solidFill>
              </a:rPr>
              <a:t>• ETH Zurich Elevation Mapping: </a:t>
            </a:r>
            <a:r>
              <a:rPr sz="1050">
                <a:solidFill>
                  <a:srgbClr val="1E293B"/>
                </a:solidFill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0F172A"/>
                </a:solidFill>
              </a:rPr>
              <a:t>• CMU Pure Pursuit Tracker: </a:t>
            </a:r>
            <a:r>
              <a:rPr sz="1050">
                <a:solidFill>
                  <a:srgbClr val="1E293B"/>
                </a:solidFill>
              </a:rPr>
              <a:t>R. C. Coulter (Carnegie Mellon Robotics Institute), Pure Pursuit Kinematics.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0F172A"/>
                </a:solidFill>
              </a:rPr>
              <a:t>• Large-Scale Segmentation: </a:t>
            </a:r>
            <a:r>
              <a:rPr sz="1050">
                <a:solidFill>
                  <a:srgbClr val="1E293B"/>
                </a:solidFill>
              </a:rPr>
              <a:t>Q. Hu et al. (Oxford / CVPR), RandLA-Net Point Cloud Segmentation.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0F172A"/>
                </a:solidFill>
              </a:rPr>
              <a:t>• Foveated Visual Attention: </a:t>
            </a:r>
            <a:r>
              <a:rPr sz="1050">
                <a:solidFill>
                  <a:srgbClr val="1E293B"/>
                </a:solidFill>
              </a:rPr>
              <a:t>J. Martinez et al. (IEEE Trans. Robotics), Foveated Saliency for Navigation.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097280"/>
            <a:ext cx="704088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LiDAR 2.5 RESEARCH PIPELINE</a:t>
            </a:r>
          </a:p>
        </p:txBody>
      </p:sp>
      <p:pic>
        <p:nvPicPr>
          <p:cNvPr id="11" name="Picture 10" descr="page_6_33_I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554480"/>
            <a:ext cx="7132320" cy="391371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54880" y="4617720"/>
            <a:ext cx="7132320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/>
          <a:lstStyle/>
          <a:p>
            <a:pPr algn="ctr">
              <a:spcAft>
                <a:spcPts val="3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💻 Verified Project Deliverables &amp; Repository: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✔ Interactive Localhost Simulator: </a:t>
            </a:r>
            <a:r>
              <a:rPr sz="1050">
                <a:solidFill>
                  <a:srgbClr val="1E293B"/>
                </a:solidFill>
              </a:rPr>
              <a:t>60 FPS HTML5 / Flask Dashboard with live dynamic foveation &amp; HUD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✔ Automated Test Suite: </a:t>
            </a:r>
            <a:r>
              <a:rPr sz="1050">
                <a:solidFill>
                  <a:srgbClr val="1E293B"/>
                </a:solidFill>
              </a:rPr>
              <a:t>5/5 comprehensive unit tests (tests/test_pipeline.py) passing in 4.0s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✔ Open-Source Codebase: </a:t>
            </a:r>
            <a:r>
              <a:rPr sz="1050">
                <a:solidFill>
                  <a:srgbClr val="1E293B"/>
                </a:solidFill>
              </a:rPr>
              <a:t>Production GitHub repository: github.com/AbhayVerma628/SIH26053_Lidar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047857"/>
                </a:solidFill>
              </a:rPr>
              <a:t>✔ Autonomous Output Artifacts: </a:t>
            </a:r>
            <a:r>
              <a:rPr sz="1050">
                <a:solidFill>
                  <a:srgbClr val="1E293B"/>
                </a:solidFill>
              </a:rPr>
              <a:t>5-panel dashboard, 10 Hz telemetry CSV, planned A* path, benchmark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