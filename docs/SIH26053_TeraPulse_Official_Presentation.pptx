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hyperlink" Target="https://abhayverma628.github.io/SIH26053_Lidar/" TargetMode="External"/><Relationship Id="rId5" Type="http://schemas.openxmlformats.org/officeDocument/2006/relationships/hyperlink" Target="https://github.com/AbhayVerma628/SIH26053_Lidar" TargetMode="External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4124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06FC0"/>
                </a:solidFill>
                <a:latin typeface="Arial"/>
              </a:defRPr>
            </a:pPr>
            <a:r>
              <a:t>Adaptive Foveated 2.5D Semantic Mapping for Autonomous Navigation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691640"/>
            <a:ext cx="6858000" cy="4846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-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-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-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-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-</a:t>
            </a:r>
            <a:r>
              <a:rPr sz="1380" b="0">
                <a:solidFill>
                  <a:srgbClr val="232323"/>
                </a:solidFill>
                <a:latin typeface="Arial"/>
              </a:rPr>
              <a:t> 137735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-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-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-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6" name="Picture 5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754880" cy="508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PROPOSED SOLUTION &amp; INNOVATION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-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(41.3 FPS, exceeding 30 FPS real-time threshold).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64AAF0"/>
          </a:solidFill>
          <a:ln w="25400">
            <a:solidFill>
              <a:srgbClr val="32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3291840"/>
            <a:ext cx="548640" cy="457200"/>
          </a:xfrm>
          <a:prstGeom prst="roundRect">
            <a:avLst/>
          </a:prstGeom>
          <a:solidFill>
            <a:srgbClr val="DC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60" y="2926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0" y="38404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0" y="39319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0" y="34747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75520" y="33832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61120" y="27432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26880" y="420624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1031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24160" y="210312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448056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98480" y="42976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98079" y="32004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81360" y="320040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052560" y="173736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0" y="5212080"/>
            <a:ext cx="109728" cy="109728"/>
          </a:xfrm>
          <a:prstGeom prst="ellipse">
            <a:avLst/>
          </a:prstGeom>
          <a:solidFill>
            <a:srgbClr val="1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0" y="5532120"/>
            <a:ext cx="228600" cy="228600"/>
          </a:xfrm>
          <a:prstGeom prst="rect">
            <a:avLst/>
          </a:prstGeom>
          <a:solidFill>
            <a:srgbClr val="64A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54864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323"/>
                </a:solidFill>
                <a:latin typeface="Arial"/>
              </a:defRPr>
            </a:pPr>
            <a:r>
              <a:t>High resolution near the vehicle (near-field: 0.25 m bubble)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5897880"/>
            <a:ext cx="228600" cy="228600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58521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323"/>
                </a:solidFill>
                <a:latin typeface="Arial"/>
              </a:defRPr>
            </a:pPr>
            <a:r>
              <a:t>Lower resolution for distant regions 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9" name="Down Arrow 8"/>
          <p:cNvSpPr/>
          <p:nvPr/>
        </p:nvSpPr>
        <p:spPr>
          <a:xfrm>
            <a:off x="2542032" y="2167128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386584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542032" y="2862072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081528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542032" y="3557016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776472"/>
            <a:ext cx="4206240" cy="45720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42032" y="4251960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471416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542032" y="49469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4206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5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Deep Learning: </a:t>
            </a:r>
            <a:r>
              <a:rPr sz="1150" b="0">
                <a:solidFill>
                  <a:srgbClr val="232323"/>
                </a:solidFill>
                <a:latin typeface="Arial"/>
              </a:rPr>
              <a:t>Semantic terrain classification (Ground, Static Obstacles, Dynamic Vehicles).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5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5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1" name="Picture 20" descr="slide3_key_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063240"/>
            <a:ext cx="5852160" cy="3268466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5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5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Low-Power Efficiency: </a:t>
            </a:r>
            <a:r>
              <a:rPr sz="1150" b="0">
                <a:solidFill>
                  <a:srgbClr val="232323"/>
                </a:solidFill>
                <a:latin typeface="Arial"/>
              </a:rPr>
              <a:t>Adaptive resolution drastically reduces memory &amp; compute requirements.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5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50" b="0">
                <a:solidFill>
                  <a:srgbClr val="232323"/>
                </a:solidFill>
                <a:latin typeface="Arial"/>
              </a:rPr>
              <a:t>Real-time processing of large LiDAR point clouds at 10-20 Hz.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5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5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5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5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Proven Benchmark: </a:t>
            </a:r>
            <a:r>
              <a:rPr sz="1150" b="0">
                <a:solidFill>
                  <a:srgbClr val="232323"/>
                </a:solidFill>
                <a:latin typeface="Arial"/>
              </a:rPr>
              <a:t>Benchmarked on 20,672 points at 41.3 FPS (exceeding 30 FPS real-time threshold) with zero crash failures.</a:t>
            </a:r>
          </a:p>
        </p:txBody>
      </p:sp>
      <p:pic>
        <p:nvPicPr>
          <p:cNvPr id="14" name="Picture 13" descr="overbridge_conce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337560"/>
            <a:ext cx="5440680" cy="3036659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is invariant to total pitch darkness and harsh glare.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planning window / ROI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4.8x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(41.3 FPS, exceeding 30 FPS real-time threshold).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Planning Window / ROI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(8.6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(41.3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4.8x Faster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Hardware Footprint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Embedded CPU / Jetson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Low Power UGV Edge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Deep learning segmentation of drivable vs obstacle cells.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pic>
        <p:nvPicPr>
          <p:cNvPr id="11" name="Picture 10" descr="colored_research_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6309360" cy="35215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80" y="4709160"/>
            <a:ext cx="45720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Project Deliverables &amp; Live Prototype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120640"/>
            <a:ext cx="45720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Live Working Prototype: </a:t>
            </a:r>
            <a:r>
              <a:rPr sz="1000" b="1" u="sng">
                <a:solidFill>
                  <a:srgbClr val="006FC0"/>
                </a:solidFill>
                <a:latin typeface="Arial"/>
                <a:hlinkClick r:id="rId4"/>
              </a:rPr>
              <a:t>https://abhayverma628.github.io/SIH26053_Lidar/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GitHub Repository: </a:t>
            </a:r>
            <a:r>
              <a:rPr sz="1000" b="1" u="sng">
                <a:solidFill>
                  <a:srgbClr val="006FC0"/>
                </a:solidFill>
                <a:latin typeface="Arial"/>
                <a:hlinkClick r:id="rId5"/>
              </a:rPr>
              <a:t>https://github.com/AbhayVerma628/SIH26053_Lidar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Interactive Web Simulator: </a:t>
            </a:r>
            <a:r>
              <a:rPr sz="1000" b="0">
                <a:solidFill>
                  <a:srgbClr val="232323"/>
                </a:solidFill>
                <a:latin typeface="Arial"/>
              </a:rPr>
              <a:t>60 FPS Canvas with real-time foveation &amp; A* route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• Telemetry &amp; Verification: </a:t>
            </a:r>
            <a:r>
              <a:rPr sz="1000" b="0">
                <a:solidFill>
                  <a:srgbClr val="232323"/>
                </a:solidFill>
                <a:latin typeface="Arial"/>
              </a:rPr>
              <a:t>5/5 unit tests passed, 10 Hz vehicle telemetry</a:t>
            </a:r>
          </a:p>
        </p:txBody>
      </p:sp>
      <p:pic>
        <p:nvPicPr>
          <p:cNvPr id="14" name="Picture 13" descr="prototype_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0" y="4800600"/>
            <a:ext cx="1188720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0" y="59893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006FC0"/>
                </a:solidFill>
                <a:latin typeface="Arial"/>
              </a:defRPr>
            </a:pPr>
            <a:r>
              <a:t>Scan for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