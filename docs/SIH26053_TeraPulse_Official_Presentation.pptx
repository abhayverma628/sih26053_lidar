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E4082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9601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50" b="1">
                <a:solidFill>
                  <a:srgbClr val="111827"/>
                </a:solidFill>
                <a:latin typeface="Arial"/>
              </a:defRPr>
            </a:pPr>
            <a:r>
              <a:t>Adaptive Foveated 2.5D Semantic Mapping for</a:t>
            </a:r>
            <a:br/>
            <a:r>
              <a:t>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40280"/>
            <a:ext cx="67665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Problem Statement ID – 26053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Problem Statement Title – Adaptive Foveated 2.5D Semantic Mapping from LiDAR Point Clouds for Autonomous Navigation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Theme – Smart Vehicles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PS Category – Software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Team ID – TBA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Team Name – TeraPulse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Team Members – Abhay Verma (Team Leader), Lokendra Singh,</a:t>
            </a:r>
            <a:br/>
            <a:r>
              <a:t>Yashvardhan Jain, Chetan Meena, Sachin Chaubey, Esha Verma</a:t>
            </a:r>
          </a:p>
          <a:p>
            <a:pPr>
              <a:spcAft>
                <a:spcPts val="700"/>
              </a:spcAft>
              <a:defRPr sz="1350">
                <a:solidFill>
                  <a:srgbClr val="111827"/>
                </a:solidFill>
                <a:latin typeface="Arial"/>
              </a:defRPr>
            </a:pPr>
            <a:r>
              <a:t>•  Institute – Indian Institute of Information Technology Bhopal</a:t>
            </a:r>
          </a:p>
        </p:txBody>
      </p:sp>
      <p:pic>
        <p:nvPicPr>
          <p:cNvPr id="6" name="Picture 5" descr="page_1_0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011680"/>
            <a:ext cx="4663440" cy="49872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01168"/>
            <a:ext cx="12801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01168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50" b="1">
                <a:solidFill>
                  <a:srgbClr val="111827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5852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852160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rial"/>
              </a:defRPr>
            </a:pPr>
            <a:r>
              <a:t>2.5D semantic elevation map generated from raw LiDAR point clouds.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rial"/>
              </a:defRPr>
            </a:pPr>
            <a:r>
              <a:t>High resolution near the vehicle (0.25 m) for critical near-field perception.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rial"/>
              </a:defRPr>
            </a:pPr>
            <a:r>
              <a:t>Lower resolution for distant regions (0.75 m &amp; 2.0 m) — cuts unnecessary computation.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rial"/>
              </a:defRPr>
            </a:pPr>
            <a:r>
              <a:t>Preserves height, terrain gradient &amp; obstacle boundaries without full 3D voxels.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rial"/>
              </a:defRPr>
            </a:pPr>
            <a:r>
              <a:t>Identifies drivable ground, static obstacles &amp; dynamic objects in real time.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rial"/>
              </a:defRPr>
            </a:pPr>
            <a:r>
              <a:t>Enables fast closed-loop environmental understanding for path planning.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5852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585216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250" i="1">
                <a:solidFill>
                  <a:srgbClr val="1F2937"/>
                </a:solidFill>
                <a:latin typeface="Arial"/>
              </a:defRPr>
            </a:pPr>
            <a:r>
              <a:t>Foveated adaptive resolution focuses computational resources where they matter most, instead of processing the entire environment at the same resolution.</a:t>
            </a:r>
          </a:p>
          <a:p>
            <a:pPr>
              <a:defRPr sz="1250">
                <a:solidFill>
                  <a:srgbClr val="1F2937"/>
                </a:solidFill>
                <a:latin typeface="Arial"/>
              </a:defRPr>
            </a:pPr>
            <a:r>
              <a:t>• Slashing cell memory by 66.2% and processing time to 24.23 ms (&gt;35 FPS).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1600200"/>
            <a:ext cx="4663440" cy="4663440"/>
          </a:xfrm>
          <a:prstGeom prst="ellipse">
            <a:avLst/>
          </a:prstGeom>
          <a:solidFill>
            <a:srgbClr val="BEDCFA"/>
          </a:solidFill>
          <a:ln w="3175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55279" y="2788920"/>
            <a:ext cx="2286000" cy="2286000"/>
          </a:xfrm>
          <a:prstGeom prst="ellipse">
            <a:avLst/>
          </a:prstGeom>
          <a:solidFill>
            <a:srgbClr val="146EC8"/>
          </a:solidFill>
          <a:ln w="3175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0" y="370332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14300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50" b="1">
                <a:solidFill>
                  <a:srgbClr val="111827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5806440"/>
            <a:ext cx="365760" cy="256032"/>
          </a:xfrm>
          <a:prstGeom prst="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5779008"/>
            <a:ext cx="457200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1F2937"/>
                </a:solidFill>
              </a:defRPr>
            </a:pPr>
            <a:r>
              <a:t>High resolution near the vehicle (near-field: 0.25 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6144768"/>
            <a:ext cx="365760" cy="256032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6108192"/>
            <a:ext cx="457200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1F2937"/>
                </a:solidFill>
              </a:defRPr>
            </a:pPr>
            <a:r>
              <a:t>Lower resolution for distant regions 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01168"/>
            <a:ext cx="12801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01168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50" b="1">
                <a:solidFill>
                  <a:srgbClr val="111827"/>
                </a:solidFill>
                <a:latin typeface="Arial"/>
              </a:defRPr>
            </a:pPr>
            <a:r>
              <a:t>TECHNICAL APPROACH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4206240" cy="530352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8" name="Down Arrow 7"/>
          <p:cNvSpPr/>
          <p:nvPr/>
        </p:nvSpPr>
        <p:spPr>
          <a:xfrm>
            <a:off x="2514600" y="2203704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4206240" cy="530352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514600" y="2999232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236976"/>
            <a:ext cx="4206240" cy="530352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514600" y="3794760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32504"/>
            <a:ext cx="4206240" cy="530352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514600" y="4590288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828032"/>
            <a:ext cx="4206240" cy="530352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514600" y="5385816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623560"/>
            <a:ext cx="4206240" cy="530352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pic>
        <p:nvPicPr>
          <p:cNvPr id="18" name="Picture 17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188720"/>
            <a:ext cx="6766560" cy="408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37760" y="4663440"/>
            <a:ext cx="676656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Technologies &amp; Implementation: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029200"/>
            <a:ext cx="6766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Python 3.12, NumPy (vectorized hashing), Open3D (point cloud processing)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Deep Learning-Based Semantic Segmentation (Ground, Obstacles, Dynamic Vehicles)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A* Graph Search &amp; Pure Pursuit Kinematics (Catmull-Rom splines, Ackermann model)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Real-Time Web Dashboard (Flask REST API, 60 FPS Canvas with moving foveation bubble)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01168"/>
            <a:ext cx="12801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01168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50" b="1">
                <a:solidFill>
                  <a:srgbClr val="111827"/>
                </a:solidFill>
                <a:latin typeface="Arial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201168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3035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Uses widely available LiDAR point cloud datasets and open-source tools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Python, Open3D, and PyTorch enable rapid prototype development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Adaptive resolution reduces memory and computational requirements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Modular pipeline allows components to be developed and tested independently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201168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530352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Real-time processing of large LiDAR point clouds at 10–20 Hz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Accurate semantic classification in unstructured off-road scenes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Avoiding false-positive obstacles for underpasses &amp; overhead foliage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Maintaining critical safety detail while reducing distant cell resolution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143000"/>
            <a:ext cx="246888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548640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Foveated variable-resolution mapping concentrates power in near-field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Efficient preprocessing (SOR &amp; RANSAC ground fit) filters dust &amp; noise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Vertical beam clearance filter enables underpass &amp; tunnel passage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Validated on 20,672 points in 24.23 ms with 5/5 passing unit tests</a:t>
            </a:r>
          </a:p>
        </p:txBody>
      </p:sp>
      <p:pic>
        <p:nvPicPr>
          <p:cNvPr id="12" name="Picture 11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154680"/>
            <a:ext cx="5669280" cy="4165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01168"/>
            <a:ext cx="12801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01168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50" b="1">
                <a:solidFill>
                  <a:srgbClr val="111827"/>
                </a:solidFill>
                <a:latin typeface="Arial"/>
              </a:defRPr>
            </a:pPr>
            <a:r>
              <a:t>IMPACT AND BENEFITS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192024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Supports safer, faster, and reliable autonomous UGV navigation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Provides sub-meter precision in safety-critical near-field zones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Active LiDAR penetrates smoke, fog &amp; night darkness for defence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Enables true real-time terrain and obstacle understanding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210312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67328"/>
            <a:ext cx="438912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Defence UGVs (border surveillance, minefield reconnaissance, logistics)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Off-road autonomous vehicles, mobile robots &amp; SAR rovers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Intelligent driver assistance (ADAS HUD in dense Himalayan fog)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920240" cy="43891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94960"/>
            <a:ext cx="43891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66.2% lower memory footprint &amp; 4.8× faster latency (24.23 ms)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Preserves critical 2.5D height profiles (slope, roughness, Z_max)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Runs smoothly on low-power edge hardware (NVIDIA Jetson Orin)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115568"/>
            <a:ext cx="649224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Visual Impact: Raw Input vs Cleaned Adaptive Perception</a:t>
            </a:r>
          </a:p>
        </p:txBody>
      </p:sp>
      <p:pic>
        <p:nvPicPr>
          <p:cNvPr id="13" name="Picture 12" descr="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508760"/>
            <a:ext cx="3246120" cy="24345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12080" y="3977639"/>
            <a:ext cx="3246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Raw LiDAR (20,672 points)</a:t>
            </a:r>
          </a:p>
        </p:txBody>
      </p:sp>
      <p:pic>
        <p:nvPicPr>
          <p:cNvPr id="15" name="Picture 14" descr="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508760"/>
            <a:ext cx="3246120" cy="24345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49640" y="3977639"/>
            <a:ext cx="3246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Filtered 2.5D Traversability 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4389120"/>
            <a:ext cx="6583680" cy="1965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pPr algn="ctr">
              <a:spcAft>
                <a:spcPts val="4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🏆 Production Performance Benchmark on KITTI Velodyne Data: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Active Stored Cells: Reduced from 2,888 (uniform) to 976 (adaptive) — 66.2% Cell Reduction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Mapping Compute Time: Reduced from 115.94 ms to 24.23 ms — 4.8× Latency Speedup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Traversable Area: 817 safe cells (83.71%) accurately identified without collision risk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Autonomous Execution: Zero-collision 47-cell A* path tracked smoothly via Pure Pursuit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01168"/>
            <a:ext cx="12801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01168"/>
            <a:ext cx="8046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50" b="1">
                <a:solidFill>
                  <a:srgbClr val="111827"/>
                </a:solidFill>
                <a:latin typeface="Arial"/>
              </a:defRPr>
            </a:pPr>
            <a:r>
              <a:t>RESEARCH AND REFERENCES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64592"/>
            <a:ext cx="1600200" cy="7561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41148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700" b="1">
                <a:solidFill>
                  <a:srgbClr val="1D4ED8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1148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LiDAR point cloud processing &amp; filtering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2.5D and elevation mapping for rough terrain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Deep semantic segmentation of point clouds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Autonomous UGV navigation &amp; kinematics</a:t>
            </a:r>
          </a:p>
          <a:p>
            <a:pPr>
              <a:spcAft>
                <a:spcPts val="200"/>
              </a:spcAft>
              <a:defRPr sz="1100">
                <a:solidFill>
                  <a:srgbClr val="1F2937"/>
                </a:solidFill>
                <a:latin typeface="Arial"/>
              </a:defRPr>
            </a:pPr>
            <a:r>
              <a:t>• Adaptive and variable-resolution 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1148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700" b="1">
                <a:solidFill>
                  <a:srgbClr val="1D4ED8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411480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KITTI Vision Benchmark Suite (Velodyne HDL-64E)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ETH Zurich Robot-Centric Elevation Mapping (P. Fankhauser)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CMU Robotics Institute Pure Pursuit Kinematics (R. C. Coulter)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Open3D &amp; PyTorch Deep Learning Documentation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Research literature on LiDAR semantic segmentation &amp; autonomous foveated navigation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15568"/>
            <a:ext cx="704088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Arial"/>
              </a:defRPr>
            </a:pPr>
            <a:r>
              <a:t>LiDAR 2.5 RESEARCH PIPELINE</a:t>
            </a:r>
          </a:p>
        </p:txBody>
      </p:sp>
      <p:pic>
        <p:nvPicPr>
          <p:cNvPr id="11" name="Picture 10" descr="page_6_33_Im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00200"/>
            <a:ext cx="7132320" cy="391371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754880" y="4663440"/>
            <a:ext cx="7132320" cy="16916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/>
          <a:lstStyle/>
          <a:p>
            <a:pPr algn="ctr">
              <a:spcAft>
                <a:spcPts val="300"/>
              </a:spcAft>
              <a:defRPr sz="1150" b="1">
                <a:solidFill>
                  <a:srgbClr val="1D4ED8"/>
                </a:solidFill>
                <a:latin typeface="Arial"/>
              </a:defRPr>
            </a:pPr>
            <a:r>
              <a:t>💻 Verified Project Deliverables &amp; Repository: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Working 60 FPS HTML5 / Flask Localhost Simulator with moving-car foveation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Automated Unit Test Suite (5/5 tests passing in 4.0s verifying all modules)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Open Source GitHub Repository: github.com/AbhayVerma628/SIH26053_Lidar</a:t>
            </a:r>
          </a:p>
          <a:p>
            <a:pPr>
              <a:spcAft>
                <a:spcPts val="200"/>
              </a:spcAft>
              <a:defRPr sz="1019">
                <a:solidFill>
                  <a:srgbClr val="1F2937"/>
                </a:solidFill>
                <a:latin typeface="Arial"/>
              </a:defRPr>
            </a:pPr>
            <a:r>
              <a:t>• Complete 5-panel Matplotlib dashboard, 10 Hz vehicle telemetry log CSV &amp; benchmarks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